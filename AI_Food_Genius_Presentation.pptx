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764B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88952" cy="2560320"/>
          </a:xfrm>
          <a:prstGeom prst="rect">
            <a:avLst/>
          </a:prstGeom>
          <a:solidFill>
            <a:srgbClr val="503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309360"/>
            <a:ext cx="12188952" cy="548640"/>
          </a:xfrm>
          <a:prstGeom prst="rect">
            <a:avLst/>
          </a:prstGeom>
          <a:solidFill>
            <a:srgbClr val="462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1005840"/>
          </a:xfrm>
          <a:prstGeom prst="rect">
            <a:avLst/>
          </a:prstGeom>
          <a:noFill/>
        </p:spPr>
        <p:txBody>
          <a:bodyPr wrap="square">
            <a:spAutoFit/>
          </a:bodyPr>
          <a:lstStyle/>
          <a:p>
            <a:pPr algn="ctr"/>
            <a:r>
              <a:rPr sz="5600" b="1" i="0">
                <a:solidFill>
                  <a:srgbClr val="FFFFFF"/>
                </a:solidFill>
              </a:rPr>
              <a:t>AI Food Genius</a:t>
            </a:r>
          </a:p>
        </p:txBody>
      </p:sp>
      <p:sp>
        <p:nvSpPr>
          <p:cNvPr id="6" name="TextBox 5"/>
          <p:cNvSpPr txBox="1"/>
          <p:nvPr/>
        </p:nvSpPr>
        <p:spPr>
          <a:xfrm>
            <a:off x="914400" y="2423160"/>
            <a:ext cx="10332720" cy="640080"/>
          </a:xfrm>
          <a:prstGeom prst="rect">
            <a:avLst/>
          </a:prstGeom>
          <a:noFill/>
        </p:spPr>
        <p:txBody>
          <a:bodyPr wrap="square">
            <a:spAutoFit/>
          </a:bodyPr>
          <a:lstStyle/>
          <a:p>
            <a:pPr algn="ctr"/>
            <a:r>
              <a:rPr sz="2200" b="0" i="0">
                <a:solidFill>
                  <a:srgbClr val="DCD7FF"/>
                </a:solidFill>
              </a:rPr>
              <a:t>A Personalized AI-Powered Food Recommendation System</a:t>
            </a:r>
          </a:p>
        </p:txBody>
      </p:sp>
      <p:sp>
        <p:nvSpPr>
          <p:cNvPr id="7" name="TextBox 6"/>
          <p:cNvSpPr txBox="1"/>
          <p:nvPr/>
        </p:nvSpPr>
        <p:spPr>
          <a:xfrm>
            <a:off x="914400" y="3200400"/>
            <a:ext cx="10332720" cy="457200"/>
          </a:xfrm>
          <a:prstGeom prst="rect">
            <a:avLst/>
          </a:prstGeom>
          <a:noFill/>
        </p:spPr>
        <p:txBody>
          <a:bodyPr wrap="square">
            <a:spAutoFit/>
          </a:bodyPr>
          <a:lstStyle/>
          <a:p>
            <a:pPr algn="ctr"/>
            <a:r>
              <a:rPr sz="1500" b="0" i="1">
                <a:solidFill>
                  <a:srgbClr val="BEB9E6"/>
                </a:solidFill>
              </a:rPr>
              <a:t>Python  ·  Streamlit  ·  5-Model ML Ensemble  ·  Collaborative Filtering  ·  SQLite</a:t>
            </a:r>
          </a:p>
        </p:txBody>
      </p:sp>
      <p:sp>
        <p:nvSpPr>
          <p:cNvPr id="8" name="TextBox 7"/>
          <p:cNvSpPr txBox="1"/>
          <p:nvPr/>
        </p:nvSpPr>
        <p:spPr>
          <a:xfrm>
            <a:off x="457200" y="6327648"/>
            <a:ext cx="11247120" cy="384048"/>
          </a:xfrm>
          <a:prstGeom prst="rect">
            <a:avLst/>
          </a:prstGeom>
          <a:noFill/>
        </p:spPr>
        <p:txBody>
          <a:bodyPr wrap="square">
            <a:spAutoFit/>
          </a:bodyPr>
          <a:lstStyle/>
          <a:p>
            <a:pPr algn="ctr"/>
            <a:r>
              <a:rPr sz="1300" b="0" i="0">
                <a:solidFill>
                  <a:srgbClr val="B4AAD7"/>
                </a:solidFill>
              </a:rPr>
              <a:t>Random Forest  ·  XGBoost  ·  LightGBM  ·  CatBoost  ·  Neural Network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3000" b="1" i="0">
                <a:solidFill>
                  <a:srgbClr val="FFFFFF"/>
                </a:solidFill>
              </a:rPr>
              <a:t>What Is AI Food Genius?</a:t>
            </a:r>
          </a:p>
        </p:txBody>
      </p:sp>
      <p:sp>
        <p:nvSpPr>
          <p:cNvPr id="4" name="Rectangle 3"/>
          <p:cNvSpPr/>
          <p:nvPr/>
        </p:nvSpPr>
        <p:spPr>
          <a:xfrm>
            <a:off x="0" y="1051560"/>
            <a:ext cx="12188952" cy="58064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1247120" cy="1280160"/>
          </a:xfrm>
          <a:prstGeom prst="rect">
            <a:avLst/>
          </a:prstGeom>
          <a:noFill/>
        </p:spPr>
        <p:txBody>
          <a:bodyPr wrap="square">
            <a:spAutoFit/>
          </a:bodyPr>
          <a:lstStyle/>
          <a:p>
            <a:pPr algn="l"/>
            <a:r>
              <a:rPr sz="1700" b="0" i="0">
                <a:solidFill>
                  <a:srgbClr val="2C3E50"/>
                </a:solidFill>
              </a:rPr>
              <a:t>AI Food Genius recommends the most suitable recipes for a user based on their age, health condition, dietary preference, cuisine, and taste profile.
It runs entirely on a local machine — no paid APIs, no cloud services required.</a:t>
            </a:r>
          </a:p>
        </p:txBody>
      </p:sp>
      <p:sp>
        <p:nvSpPr>
          <p:cNvPr id="6" name="Rectangle 5"/>
          <p:cNvSpPr/>
          <p:nvPr/>
        </p:nvSpPr>
        <p:spPr>
          <a:xfrm>
            <a:off x="365760" y="2743200"/>
            <a:ext cx="2148840" cy="1920240"/>
          </a:xfrm>
          <a:prstGeom prst="rect">
            <a:avLst/>
          </a:prstGeom>
          <a:solidFill>
            <a:srgbClr val="FFFFFF"/>
          </a:solidFill>
          <a:ln w="19050">
            <a:solidFill>
              <a:srgbClr val="667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834640"/>
            <a:ext cx="1965960" cy="384048"/>
          </a:xfrm>
          <a:prstGeom prst="rect">
            <a:avLst/>
          </a:prstGeom>
          <a:noFill/>
        </p:spPr>
        <p:txBody>
          <a:bodyPr wrap="square">
            <a:spAutoFit/>
          </a:bodyPr>
          <a:lstStyle/>
          <a:p>
            <a:pPr algn="ctr"/>
            <a:r>
              <a:rPr sz="1300" b="1" i="0">
                <a:solidFill>
                  <a:srgbClr val="764BA2"/>
                </a:solidFill>
              </a:rPr>
              <a:t>Home</a:t>
            </a:r>
          </a:p>
        </p:txBody>
      </p:sp>
      <p:sp>
        <p:nvSpPr>
          <p:cNvPr id="8" name="TextBox 7"/>
          <p:cNvSpPr txBox="1"/>
          <p:nvPr/>
        </p:nvSpPr>
        <p:spPr>
          <a:xfrm>
            <a:off x="457200" y="3291840"/>
            <a:ext cx="1965960" cy="777240"/>
          </a:xfrm>
          <a:prstGeom prst="rect">
            <a:avLst/>
          </a:prstGeom>
          <a:noFill/>
        </p:spPr>
        <p:txBody>
          <a:bodyPr wrap="square">
            <a:spAutoFit/>
          </a:bodyPr>
          <a:lstStyle/>
          <a:p>
            <a:pPr algn="ctr"/>
            <a:r>
              <a:rPr sz="1100" b="0" i="0">
                <a:solidFill>
                  <a:srgbClr val="2C3E50"/>
                </a:solidFill>
              </a:rPr>
              <a:t>Dashboard with platform stats
and trending recipes</a:t>
            </a:r>
          </a:p>
        </p:txBody>
      </p:sp>
      <p:sp>
        <p:nvSpPr>
          <p:cNvPr id="9" name="Rectangle 8"/>
          <p:cNvSpPr/>
          <p:nvPr/>
        </p:nvSpPr>
        <p:spPr>
          <a:xfrm>
            <a:off x="2697480" y="2743200"/>
            <a:ext cx="2148840" cy="1920240"/>
          </a:xfrm>
          <a:prstGeom prst="rect">
            <a:avLst/>
          </a:prstGeom>
          <a:solidFill>
            <a:srgbClr val="FFFFFF"/>
          </a:solidFill>
          <a:ln w="19050">
            <a:solidFill>
              <a:srgbClr val="667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8920" y="2834640"/>
            <a:ext cx="1965960" cy="384048"/>
          </a:xfrm>
          <a:prstGeom prst="rect">
            <a:avLst/>
          </a:prstGeom>
          <a:noFill/>
        </p:spPr>
        <p:txBody>
          <a:bodyPr wrap="square">
            <a:spAutoFit/>
          </a:bodyPr>
          <a:lstStyle/>
          <a:p>
            <a:pPr algn="ctr"/>
            <a:r>
              <a:rPr sz="1300" b="1" i="0">
                <a:solidFill>
                  <a:srgbClr val="764BA2"/>
                </a:solidFill>
              </a:rPr>
              <a:t>AI Recommendations</a:t>
            </a:r>
          </a:p>
        </p:txBody>
      </p:sp>
      <p:sp>
        <p:nvSpPr>
          <p:cNvPr id="11" name="TextBox 10"/>
          <p:cNvSpPr txBox="1"/>
          <p:nvPr/>
        </p:nvSpPr>
        <p:spPr>
          <a:xfrm>
            <a:off x="2788920" y="3291840"/>
            <a:ext cx="1965960" cy="777240"/>
          </a:xfrm>
          <a:prstGeom prst="rect">
            <a:avLst/>
          </a:prstGeom>
          <a:noFill/>
        </p:spPr>
        <p:txBody>
          <a:bodyPr wrap="square">
            <a:spAutoFit/>
          </a:bodyPr>
          <a:lstStyle/>
          <a:p>
            <a:pPr algn="ctr"/>
            <a:r>
              <a:rPr sz="1100" b="0" i="0">
                <a:solidFill>
                  <a:srgbClr val="2C3E50"/>
                </a:solidFill>
              </a:rPr>
              <a:t>Enter your profile and get
personalized recipe suggestions</a:t>
            </a:r>
          </a:p>
        </p:txBody>
      </p:sp>
      <p:sp>
        <p:nvSpPr>
          <p:cNvPr id="12" name="Rectangle 11"/>
          <p:cNvSpPr/>
          <p:nvPr/>
        </p:nvSpPr>
        <p:spPr>
          <a:xfrm>
            <a:off x="5029200" y="2743200"/>
            <a:ext cx="2148840" cy="1920240"/>
          </a:xfrm>
          <a:prstGeom prst="rect">
            <a:avLst/>
          </a:prstGeom>
          <a:solidFill>
            <a:srgbClr val="FFFFFF"/>
          </a:solidFill>
          <a:ln w="19050">
            <a:solidFill>
              <a:srgbClr val="667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2834640"/>
            <a:ext cx="1965960" cy="384048"/>
          </a:xfrm>
          <a:prstGeom prst="rect">
            <a:avLst/>
          </a:prstGeom>
          <a:noFill/>
        </p:spPr>
        <p:txBody>
          <a:bodyPr wrap="square">
            <a:spAutoFit/>
          </a:bodyPr>
          <a:lstStyle/>
          <a:p>
            <a:pPr algn="ctr"/>
            <a:r>
              <a:rPr sz="1300" b="1" i="0">
                <a:solidFill>
                  <a:srgbClr val="764BA2"/>
                </a:solidFill>
              </a:rPr>
              <a:t>Analytics</a:t>
            </a:r>
          </a:p>
        </p:txBody>
      </p:sp>
      <p:sp>
        <p:nvSpPr>
          <p:cNvPr id="14" name="TextBox 13"/>
          <p:cNvSpPr txBox="1"/>
          <p:nvPr/>
        </p:nvSpPr>
        <p:spPr>
          <a:xfrm>
            <a:off x="5120640" y="3291840"/>
            <a:ext cx="1965960" cy="777240"/>
          </a:xfrm>
          <a:prstGeom prst="rect">
            <a:avLst/>
          </a:prstGeom>
          <a:noFill/>
        </p:spPr>
        <p:txBody>
          <a:bodyPr wrap="square">
            <a:spAutoFit/>
          </a:bodyPr>
          <a:lstStyle/>
          <a:p>
            <a:pPr algn="ctr"/>
            <a:r>
              <a:rPr sz="1100" b="0" i="0">
                <a:solidFill>
                  <a:srgbClr val="2C3E50"/>
                </a:solidFill>
              </a:rPr>
              <a:t>Model accuracy charts,
calorie &amp; cuisine breakdowns</a:t>
            </a:r>
          </a:p>
        </p:txBody>
      </p:sp>
      <p:sp>
        <p:nvSpPr>
          <p:cNvPr id="15" name="Rectangle 14"/>
          <p:cNvSpPr/>
          <p:nvPr/>
        </p:nvSpPr>
        <p:spPr>
          <a:xfrm>
            <a:off x="7360920" y="2743200"/>
            <a:ext cx="2148840" cy="1920240"/>
          </a:xfrm>
          <a:prstGeom prst="rect">
            <a:avLst/>
          </a:prstGeom>
          <a:solidFill>
            <a:srgbClr val="FFFFFF"/>
          </a:solidFill>
          <a:ln w="19050">
            <a:solidFill>
              <a:srgbClr val="667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60" y="2834640"/>
            <a:ext cx="1965960" cy="384048"/>
          </a:xfrm>
          <a:prstGeom prst="rect">
            <a:avLst/>
          </a:prstGeom>
          <a:noFill/>
        </p:spPr>
        <p:txBody>
          <a:bodyPr wrap="square">
            <a:spAutoFit/>
          </a:bodyPr>
          <a:lstStyle/>
          <a:p>
            <a:pPr algn="ctr"/>
            <a:r>
              <a:rPr sz="1300" b="1" i="0">
                <a:solidFill>
                  <a:srgbClr val="764BA2"/>
                </a:solidFill>
              </a:rPr>
              <a:t>Profile</a:t>
            </a:r>
          </a:p>
        </p:txBody>
      </p:sp>
      <p:sp>
        <p:nvSpPr>
          <p:cNvPr id="17" name="TextBox 16"/>
          <p:cNvSpPr txBox="1"/>
          <p:nvPr/>
        </p:nvSpPr>
        <p:spPr>
          <a:xfrm>
            <a:off x="7452360" y="3291840"/>
            <a:ext cx="1965960" cy="777240"/>
          </a:xfrm>
          <a:prstGeom prst="rect">
            <a:avLst/>
          </a:prstGeom>
          <a:noFill/>
        </p:spPr>
        <p:txBody>
          <a:bodyPr wrap="square">
            <a:spAutoFit/>
          </a:bodyPr>
          <a:lstStyle/>
          <a:p>
            <a:pPr algn="ctr"/>
            <a:r>
              <a:rPr sz="1100" b="0" i="0">
                <a:solidFill>
                  <a:srgbClr val="2C3E50"/>
                </a:solidFill>
              </a:rPr>
              <a:t>Save preferences permanently;
view your rating history</a:t>
            </a:r>
          </a:p>
        </p:txBody>
      </p:sp>
      <p:sp>
        <p:nvSpPr>
          <p:cNvPr id="18" name="Rectangle 17"/>
          <p:cNvSpPr/>
          <p:nvPr/>
        </p:nvSpPr>
        <p:spPr>
          <a:xfrm>
            <a:off x="9692640" y="2743200"/>
            <a:ext cx="2148840" cy="1920240"/>
          </a:xfrm>
          <a:prstGeom prst="rect">
            <a:avLst/>
          </a:prstGeom>
          <a:solidFill>
            <a:srgbClr val="FFFFFF"/>
          </a:solidFill>
          <a:ln w="19050">
            <a:solidFill>
              <a:srgbClr val="667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0" y="2834640"/>
            <a:ext cx="1965960" cy="384048"/>
          </a:xfrm>
          <a:prstGeom prst="rect">
            <a:avLst/>
          </a:prstGeom>
          <a:noFill/>
        </p:spPr>
        <p:txBody>
          <a:bodyPr wrap="square">
            <a:spAutoFit/>
          </a:bodyPr>
          <a:lstStyle/>
          <a:p>
            <a:pPr algn="ctr"/>
            <a:r>
              <a:rPr sz="1300" b="1" i="0">
                <a:solidFill>
                  <a:srgbClr val="764BA2"/>
                </a:solidFill>
              </a:rPr>
              <a:t>Favourites</a:t>
            </a:r>
          </a:p>
        </p:txBody>
      </p:sp>
      <p:sp>
        <p:nvSpPr>
          <p:cNvPr id="20" name="TextBox 19"/>
          <p:cNvSpPr txBox="1"/>
          <p:nvPr/>
        </p:nvSpPr>
        <p:spPr>
          <a:xfrm>
            <a:off x="9784080" y="3291840"/>
            <a:ext cx="1965960" cy="777240"/>
          </a:xfrm>
          <a:prstGeom prst="rect">
            <a:avLst/>
          </a:prstGeom>
          <a:noFill/>
        </p:spPr>
        <p:txBody>
          <a:bodyPr wrap="square">
            <a:spAutoFit/>
          </a:bodyPr>
          <a:lstStyle/>
          <a:p>
            <a:pPr algn="ctr"/>
            <a:r>
              <a:rPr sz="1100" b="0" i="0">
                <a:solidFill>
                  <a:srgbClr val="2C3E50"/>
                </a:solidFill>
              </a:rPr>
              <a:t>All recipes you saved,
in one place</a:t>
            </a:r>
          </a:p>
        </p:txBody>
      </p:sp>
      <p:sp>
        <p:nvSpPr>
          <p:cNvPr id="21" name="Rectangle 20"/>
          <p:cNvSpPr/>
          <p:nvPr/>
        </p:nvSpPr>
        <p:spPr>
          <a:xfrm>
            <a:off x="274320" y="5029200"/>
            <a:ext cx="11612880" cy="502920"/>
          </a:xfrm>
          <a:prstGeom prst="rect">
            <a:avLst/>
          </a:prstGeom>
          <a:solidFill>
            <a:srgbClr val="E8FA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5074920"/>
            <a:ext cx="11247120" cy="411480"/>
          </a:xfrm>
          <a:prstGeom prst="rect">
            <a:avLst/>
          </a:prstGeom>
          <a:noFill/>
        </p:spPr>
        <p:txBody>
          <a:bodyPr wrap="square">
            <a:spAutoFit/>
          </a:bodyPr>
          <a:lstStyle/>
          <a:p>
            <a:pPr algn="l"/>
            <a:r>
              <a:rPr sz="1400" b="1" i="0">
                <a:solidFill>
                  <a:srgbClr val="28A745"/>
                </a:solidFill>
              </a:rPr>
              <a:t>Users register and log in — profile, favourites, and ratings all persist across sessions (SQLite database).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3000" b="1" i="0">
                <a:solidFill>
                  <a:srgbClr val="FFFFFF"/>
                </a:solidFill>
              </a:rPr>
              <a:t>The Dataset</a:t>
            </a:r>
          </a:p>
        </p:txBody>
      </p:sp>
      <p:sp>
        <p:nvSpPr>
          <p:cNvPr id="4" name="TextBox 3"/>
          <p:cNvSpPr txBox="1"/>
          <p:nvPr/>
        </p:nvSpPr>
        <p:spPr>
          <a:xfrm>
            <a:off x="365760" y="640080"/>
            <a:ext cx="11430000" cy="347472"/>
          </a:xfrm>
          <a:prstGeom prst="rect">
            <a:avLst/>
          </a:prstGeom>
          <a:noFill/>
        </p:spPr>
        <p:txBody>
          <a:bodyPr wrap="square">
            <a:spAutoFit/>
          </a:bodyPr>
          <a:lstStyle/>
          <a:p>
            <a:pPr algn="l"/>
            <a:r>
              <a:rPr sz="1400" b="0" i="1">
                <a:solidFill>
                  <a:srgbClr val="DCD7FF"/>
                </a:solidFill>
              </a:rPr>
              <a:t>Structured synthetic dataset built specifically for this application</a:t>
            </a:r>
          </a:p>
        </p:txBody>
      </p:sp>
      <p:sp>
        <p:nvSpPr>
          <p:cNvPr id="5" name="Rectangle 4"/>
          <p:cNvSpPr/>
          <p:nvPr/>
        </p:nvSpPr>
        <p:spPr>
          <a:xfrm>
            <a:off x="0" y="1051560"/>
            <a:ext cx="12188952" cy="58064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34440"/>
            <a:ext cx="2560320" cy="1600200"/>
          </a:xfrm>
          <a:prstGeom prst="rect">
            <a:avLst/>
          </a:prstGeom>
          <a:solidFill>
            <a:srgbClr val="FFFFFF"/>
          </a:solidFill>
          <a:ln w="25400">
            <a:solidFill>
              <a:srgbClr val="667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17320"/>
            <a:ext cx="2560320" cy="685800"/>
          </a:xfrm>
          <a:prstGeom prst="rect">
            <a:avLst/>
          </a:prstGeom>
          <a:noFill/>
        </p:spPr>
        <p:txBody>
          <a:bodyPr wrap="square">
            <a:spAutoFit/>
          </a:bodyPr>
          <a:lstStyle/>
          <a:p>
            <a:pPr algn="ctr"/>
            <a:r>
              <a:rPr sz="3800" b="1" i="0">
                <a:solidFill>
                  <a:srgbClr val="667EEA"/>
                </a:solidFill>
              </a:rPr>
              <a:t>250</a:t>
            </a:r>
          </a:p>
        </p:txBody>
      </p:sp>
      <p:sp>
        <p:nvSpPr>
          <p:cNvPr id="8" name="TextBox 7"/>
          <p:cNvSpPr txBox="1"/>
          <p:nvPr/>
        </p:nvSpPr>
        <p:spPr>
          <a:xfrm>
            <a:off x="457200" y="2176272"/>
            <a:ext cx="2560320" cy="457200"/>
          </a:xfrm>
          <a:prstGeom prst="rect">
            <a:avLst/>
          </a:prstGeom>
          <a:noFill/>
        </p:spPr>
        <p:txBody>
          <a:bodyPr wrap="square">
            <a:spAutoFit/>
          </a:bodyPr>
          <a:lstStyle/>
          <a:p>
            <a:pPr algn="ctr"/>
            <a:r>
              <a:rPr sz="1300" b="0" i="0">
                <a:solidFill>
                  <a:srgbClr val="2C3E50"/>
                </a:solidFill>
              </a:rPr>
              <a:t>Unique Recipes</a:t>
            </a:r>
          </a:p>
        </p:txBody>
      </p:sp>
      <p:sp>
        <p:nvSpPr>
          <p:cNvPr id="9" name="Rectangle 8"/>
          <p:cNvSpPr/>
          <p:nvPr/>
        </p:nvSpPr>
        <p:spPr>
          <a:xfrm>
            <a:off x="3291840" y="1234440"/>
            <a:ext cx="2560320" cy="1600200"/>
          </a:xfrm>
          <a:prstGeom prst="rect">
            <a:avLst/>
          </a:prstGeom>
          <a:solidFill>
            <a:srgbClr val="FFFFFF"/>
          </a:solidFill>
          <a:ln w="25400">
            <a:solidFill>
              <a:srgbClr val="667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417320"/>
            <a:ext cx="2560320" cy="685800"/>
          </a:xfrm>
          <a:prstGeom prst="rect">
            <a:avLst/>
          </a:prstGeom>
          <a:noFill/>
        </p:spPr>
        <p:txBody>
          <a:bodyPr wrap="square">
            <a:spAutoFit/>
          </a:bodyPr>
          <a:lstStyle/>
          <a:p>
            <a:pPr algn="ctr"/>
            <a:r>
              <a:rPr sz="3800" b="1" i="0">
                <a:solidFill>
                  <a:srgbClr val="667EEA"/>
                </a:solidFill>
              </a:rPr>
              <a:t>200</a:t>
            </a:r>
          </a:p>
        </p:txBody>
      </p:sp>
      <p:sp>
        <p:nvSpPr>
          <p:cNvPr id="11" name="TextBox 10"/>
          <p:cNvSpPr txBox="1"/>
          <p:nvPr/>
        </p:nvSpPr>
        <p:spPr>
          <a:xfrm>
            <a:off x="3291840" y="2176272"/>
            <a:ext cx="2560320" cy="457200"/>
          </a:xfrm>
          <a:prstGeom prst="rect">
            <a:avLst/>
          </a:prstGeom>
          <a:noFill/>
        </p:spPr>
        <p:txBody>
          <a:bodyPr wrap="square">
            <a:spAutoFit/>
          </a:bodyPr>
          <a:lstStyle/>
          <a:p>
            <a:pPr algn="ctr"/>
            <a:r>
              <a:rPr sz="1300" b="0" i="0">
                <a:solidFill>
                  <a:srgbClr val="2C3E50"/>
                </a:solidFill>
              </a:rPr>
              <a:t>User Profiles</a:t>
            </a:r>
          </a:p>
        </p:txBody>
      </p:sp>
      <p:sp>
        <p:nvSpPr>
          <p:cNvPr id="12" name="Rectangle 11"/>
          <p:cNvSpPr/>
          <p:nvPr/>
        </p:nvSpPr>
        <p:spPr>
          <a:xfrm>
            <a:off x="6126480" y="1234440"/>
            <a:ext cx="2560320" cy="1600200"/>
          </a:xfrm>
          <a:prstGeom prst="rect">
            <a:avLst/>
          </a:prstGeom>
          <a:solidFill>
            <a:srgbClr val="FFFFFF"/>
          </a:solidFill>
          <a:ln w="25400">
            <a:solidFill>
              <a:srgbClr val="667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1417320"/>
            <a:ext cx="2560320" cy="685800"/>
          </a:xfrm>
          <a:prstGeom prst="rect">
            <a:avLst/>
          </a:prstGeom>
          <a:noFill/>
        </p:spPr>
        <p:txBody>
          <a:bodyPr wrap="square">
            <a:spAutoFit/>
          </a:bodyPr>
          <a:lstStyle/>
          <a:p>
            <a:pPr algn="ctr"/>
            <a:r>
              <a:rPr sz="3800" b="1" i="0">
                <a:solidFill>
                  <a:srgbClr val="667EEA"/>
                </a:solidFill>
              </a:rPr>
              <a:t>3,000</a:t>
            </a:r>
          </a:p>
        </p:txBody>
      </p:sp>
      <p:sp>
        <p:nvSpPr>
          <p:cNvPr id="14" name="TextBox 13"/>
          <p:cNvSpPr txBox="1"/>
          <p:nvPr/>
        </p:nvSpPr>
        <p:spPr>
          <a:xfrm>
            <a:off x="6126480" y="2176272"/>
            <a:ext cx="2560320" cy="457200"/>
          </a:xfrm>
          <a:prstGeom prst="rect">
            <a:avLst/>
          </a:prstGeom>
          <a:noFill/>
        </p:spPr>
        <p:txBody>
          <a:bodyPr wrap="square">
            <a:spAutoFit/>
          </a:bodyPr>
          <a:lstStyle/>
          <a:p>
            <a:pPr algn="ctr"/>
            <a:r>
              <a:rPr sz="1300" b="0" i="0">
                <a:solidFill>
                  <a:srgbClr val="2C3E50"/>
                </a:solidFill>
              </a:rPr>
              <a:t>Interactions</a:t>
            </a:r>
          </a:p>
        </p:txBody>
      </p:sp>
      <p:sp>
        <p:nvSpPr>
          <p:cNvPr id="15" name="Rectangle 14"/>
          <p:cNvSpPr/>
          <p:nvPr/>
        </p:nvSpPr>
        <p:spPr>
          <a:xfrm>
            <a:off x="8961120" y="1234440"/>
            <a:ext cx="2560320" cy="1600200"/>
          </a:xfrm>
          <a:prstGeom prst="rect">
            <a:avLst/>
          </a:prstGeom>
          <a:solidFill>
            <a:srgbClr val="FFFFFF"/>
          </a:solidFill>
          <a:ln w="25400">
            <a:solidFill>
              <a:srgbClr val="667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0" y="1417320"/>
            <a:ext cx="2560320" cy="685800"/>
          </a:xfrm>
          <a:prstGeom prst="rect">
            <a:avLst/>
          </a:prstGeom>
          <a:noFill/>
        </p:spPr>
        <p:txBody>
          <a:bodyPr wrap="square">
            <a:spAutoFit/>
          </a:bodyPr>
          <a:lstStyle/>
          <a:p>
            <a:pPr algn="ctr"/>
            <a:r>
              <a:rPr sz="3800" b="1" i="0">
                <a:solidFill>
                  <a:srgbClr val="667EEA"/>
                </a:solidFill>
              </a:rPr>
              <a:t>26</a:t>
            </a:r>
          </a:p>
        </p:txBody>
      </p:sp>
      <p:sp>
        <p:nvSpPr>
          <p:cNvPr id="17" name="TextBox 16"/>
          <p:cNvSpPr txBox="1"/>
          <p:nvPr/>
        </p:nvSpPr>
        <p:spPr>
          <a:xfrm>
            <a:off x="8961120" y="2176272"/>
            <a:ext cx="2560320" cy="457200"/>
          </a:xfrm>
          <a:prstGeom prst="rect">
            <a:avLst/>
          </a:prstGeom>
          <a:noFill/>
        </p:spPr>
        <p:txBody>
          <a:bodyPr wrap="square">
            <a:spAutoFit/>
          </a:bodyPr>
          <a:lstStyle/>
          <a:p>
            <a:pPr algn="ctr"/>
            <a:r>
              <a:rPr sz="1300" b="0" i="0">
                <a:solidFill>
                  <a:srgbClr val="2C3E50"/>
                </a:solidFill>
              </a:rPr>
              <a:t>Columns / Record</a:t>
            </a:r>
          </a:p>
        </p:txBody>
      </p:sp>
      <p:sp>
        <p:nvSpPr>
          <p:cNvPr id="18" name="Rectangle 17"/>
          <p:cNvSpPr/>
          <p:nvPr/>
        </p:nvSpPr>
        <p:spPr>
          <a:xfrm>
            <a:off x="365760" y="3200400"/>
            <a:ext cx="11430000" cy="438912"/>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264408"/>
            <a:ext cx="2286000" cy="347472"/>
          </a:xfrm>
          <a:prstGeom prst="rect">
            <a:avLst/>
          </a:prstGeom>
          <a:noFill/>
        </p:spPr>
        <p:txBody>
          <a:bodyPr wrap="square">
            <a:spAutoFit/>
          </a:bodyPr>
          <a:lstStyle/>
          <a:p>
            <a:pPr algn="l"/>
            <a:r>
              <a:rPr sz="1300" b="1" i="0">
                <a:solidFill>
                  <a:srgbClr val="764BA2"/>
                </a:solidFill>
              </a:rPr>
              <a:t>Cuisines:</a:t>
            </a:r>
          </a:p>
        </p:txBody>
      </p:sp>
      <p:sp>
        <p:nvSpPr>
          <p:cNvPr id="20" name="TextBox 19"/>
          <p:cNvSpPr txBox="1"/>
          <p:nvPr/>
        </p:nvSpPr>
        <p:spPr>
          <a:xfrm>
            <a:off x="2926080" y="3264408"/>
            <a:ext cx="8686800" cy="347472"/>
          </a:xfrm>
          <a:prstGeom prst="rect">
            <a:avLst/>
          </a:prstGeom>
          <a:noFill/>
        </p:spPr>
        <p:txBody>
          <a:bodyPr wrap="square">
            <a:spAutoFit/>
          </a:bodyPr>
          <a:lstStyle/>
          <a:p>
            <a:pPr algn="l"/>
            <a:r>
              <a:rPr sz="1300" b="0" i="0">
                <a:solidFill>
                  <a:srgbClr val="2C3E50"/>
                </a:solidFill>
              </a:rPr>
              <a:t>Indian  ·  Italian  ·  Asian  ·  Mediterranean  ·  Mexican  ·  American</a:t>
            </a:r>
          </a:p>
        </p:txBody>
      </p:sp>
      <p:sp>
        <p:nvSpPr>
          <p:cNvPr id="21" name="Rectangle 20"/>
          <p:cNvSpPr/>
          <p:nvPr/>
        </p:nvSpPr>
        <p:spPr>
          <a:xfrm>
            <a:off x="365760" y="3657600"/>
            <a:ext cx="11430000" cy="438912"/>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721608"/>
            <a:ext cx="2286000" cy="347472"/>
          </a:xfrm>
          <a:prstGeom prst="rect">
            <a:avLst/>
          </a:prstGeom>
          <a:noFill/>
        </p:spPr>
        <p:txBody>
          <a:bodyPr wrap="square">
            <a:spAutoFit/>
          </a:bodyPr>
          <a:lstStyle/>
          <a:p>
            <a:pPr algn="l"/>
            <a:r>
              <a:rPr sz="1300" b="1" i="0">
                <a:solidFill>
                  <a:srgbClr val="764BA2"/>
                </a:solidFill>
              </a:rPr>
              <a:t>Diet Types:</a:t>
            </a:r>
          </a:p>
        </p:txBody>
      </p:sp>
      <p:sp>
        <p:nvSpPr>
          <p:cNvPr id="23" name="TextBox 22"/>
          <p:cNvSpPr txBox="1"/>
          <p:nvPr/>
        </p:nvSpPr>
        <p:spPr>
          <a:xfrm>
            <a:off x="2926080" y="3721608"/>
            <a:ext cx="8686800" cy="347472"/>
          </a:xfrm>
          <a:prstGeom prst="rect">
            <a:avLst/>
          </a:prstGeom>
          <a:noFill/>
        </p:spPr>
        <p:txBody>
          <a:bodyPr wrap="square">
            <a:spAutoFit/>
          </a:bodyPr>
          <a:lstStyle/>
          <a:p>
            <a:pPr algn="l"/>
            <a:r>
              <a:rPr sz="1300" b="0" i="0">
                <a:solidFill>
                  <a:srgbClr val="2C3E50"/>
                </a:solidFill>
              </a:rPr>
              <a:t>Vegetarian  ·  Non-Vegetarian  ·  Vegan  ·  Keto  ·  Paleo</a:t>
            </a:r>
          </a:p>
        </p:txBody>
      </p:sp>
      <p:sp>
        <p:nvSpPr>
          <p:cNvPr id="24" name="Rectangle 23"/>
          <p:cNvSpPr/>
          <p:nvPr/>
        </p:nvSpPr>
        <p:spPr>
          <a:xfrm>
            <a:off x="365760" y="4114800"/>
            <a:ext cx="11430000" cy="438912"/>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178808"/>
            <a:ext cx="2286000" cy="347472"/>
          </a:xfrm>
          <a:prstGeom prst="rect">
            <a:avLst/>
          </a:prstGeom>
          <a:noFill/>
        </p:spPr>
        <p:txBody>
          <a:bodyPr wrap="square">
            <a:spAutoFit/>
          </a:bodyPr>
          <a:lstStyle/>
          <a:p>
            <a:pPr algn="l"/>
            <a:r>
              <a:rPr sz="1300" b="1" i="0">
                <a:solidFill>
                  <a:srgbClr val="764BA2"/>
                </a:solidFill>
              </a:rPr>
              <a:t>Taste Profiles:</a:t>
            </a:r>
          </a:p>
        </p:txBody>
      </p:sp>
      <p:sp>
        <p:nvSpPr>
          <p:cNvPr id="26" name="TextBox 25"/>
          <p:cNvSpPr txBox="1"/>
          <p:nvPr/>
        </p:nvSpPr>
        <p:spPr>
          <a:xfrm>
            <a:off x="2926080" y="4178808"/>
            <a:ext cx="8686800" cy="347472"/>
          </a:xfrm>
          <a:prstGeom prst="rect">
            <a:avLst/>
          </a:prstGeom>
          <a:noFill/>
        </p:spPr>
        <p:txBody>
          <a:bodyPr wrap="square">
            <a:spAutoFit/>
          </a:bodyPr>
          <a:lstStyle/>
          <a:p>
            <a:pPr algn="l"/>
            <a:r>
              <a:rPr sz="1300" b="0" i="0">
                <a:solidFill>
                  <a:srgbClr val="2C3E50"/>
                </a:solidFill>
              </a:rPr>
              <a:t>Spicy  ·  Sweet  ·  Mild  ·  Savory  ·  Tangy</a:t>
            </a:r>
          </a:p>
        </p:txBody>
      </p:sp>
      <p:sp>
        <p:nvSpPr>
          <p:cNvPr id="27" name="Rectangle 26"/>
          <p:cNvSpPr/>
          <p:nvPr/>
        </p:nvSpPr>
        <p:spPr>
          <a:xfrm>
            <a:off x="365760" y="4572000"/>
            <a:ext cx="11430000" cy="438912"/>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4636008"/>
            <a:ext cx="2286000" cy="347472"/>
          </a:xfrm>
          <a:prstGeom prst="rect">
            <a:avLst/>
          </a:prstGeom>
          <a:noFill/>
        </p:spPr>
        <p:txBody>
          <a:bodyPr wrap="square">
            <a:spAutoFit/>
          </a:bodyPr>
          <a:lstStyle/>
          <a:p>
            <a:pPr algn="l"/>
            <a:r>
              <a:rPr sz="1300" b="1" i="0">
                <a:solidFill>
                  <a:srgbClr val="764BA2"/>
                </a:solidFill>
              </a:rPr>
              <a:t>Health Conditions:</a:t>
            </a:r>
          </a:p>
        </p:txBody>
      </p:sp>
      <p:sp>
        <p:nvSpPr>
          <p:cNvPr id="29" name="TextBox 28"/>
          <p:cNvSpPr txBox="1"/>
          <p:nvPr/>
        </p:nvSpPr>
        <p:spPr>
          <a:xfrm>
            <a:off x="2926080" y="4636008"/>
            <a:ext cx="8686800" cy="347472"/>
          </a:xfrm>
          <a:prstGeom prst="rect">
            <a:avLst/>
          </a:prstGeom>
          <a:noFill/>
        </p:spPr>
        <p:txBody>
          <a:bodyPr wrap="square">
            <a:spAutoFit/>
          </a:bodyPr>
          <a:lstStyle/>
          <a:p>
            <a:pPr algn="l"/>
            <a:r>
              <a:rPr sz="1300" b="0" i="0">
                <a:solidFill>
                  <a:srgbClr val="2C3E50"/>
                </a:solidFill>
              </a:rPr>
              <a:t>None  ·  Diabetes  ·  Iron Deficiency  ·  Vitamin D Deficiency  ·  High Blood Pressure</a:t>
            </a:r>
          </a:p>
        </p:txBody>
      </p:sp>
      <p:sp>
        <p:nvSpPr>
          <p:cNvPr id="30" name="TextBox 29"/>
          <p:cNvSpPr txBox="1"/>
          <p:nvPr/>
        </p:nvSpPr>
        <p:spPr>
          <a:xfrm>
            <a:off x="365760" y="6263640"/>
            <a:ext cx="11430000" cy="411480"/>
          </a:xfrm>
          <a:prstGeom prst="rect">
            <a:avLst/>
          </a:prstGeom>
          <a:noFill/>
        </p:spPr>
        <p:txBody>
          <a:bodyPr wrap="square">
            <a:spAutoFit/>
          </a:bodyPr>
          <a:lstStyle/>
          <a:p>
            <a:pPr algn="l"/>
            <a:r>
              <a:rPr sz="1300" b="0" i="1">
                <a:solidFill>
                  <a:srgbClr val="6C757D"/>
                </a:solidFill>
              </a:rPr>
              <a:t>Every cuisine–diet combination has 4–15 recipes. Nutritional values are realistic by diet type (e.g. Keto = high fat &amp; low carb by design).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3000" b="1" i="0">
                <a:solidFill>
                  <a:srgbClr val="FFFFFF"/>
                </a:solidFill>
              </a:rPr>
              <a:t>How Recommendations Work</a:t>
            </a:r>
          </a:p>
        </p:txBody>
      </p:sp>
      <p:sp>
        <p:nvSpPr>
          <p:cNvPr id="4" name="TextBox 3"/>
          <p:cNvSpPr txBox="1"/>
          <p:nvPr/>
        </p:nvSpPr>
        <p:spPr>
          <a:xfrm>
            <a:off x="365760" y="640080"/>
            <a:ext cx="11430000" cy="347472"/>
          </a:xfrm>
          <a:prstGeom prst="rect">
            <a:avLst/>
          </a:prstGeom>
          <a:noFill/>
        </p:spPr>
        <p:txBody>
          <a:bodyPr wrap="square">
            <a:spAutoFit/>
          </a:bodyPr>
          <a:lstStyle/>
          <a:p>
            <a:pPr algn="l"/>
            <a:r>
              <a:rPr sz="1400" b="0" i="1">
                <a:solidFill>
                  <a:srgbClr val="DCD7FF"/>
                </a:solidFill>
              </a:rPr>
              <a:t>4-layer pipeline — runs every time you click Get Recommendations</a:t>
            </a:r>
          </a:p>
        </p:txBody>
      </p:sp>
      <p:sp>
        <p:nvSpPr>
          <p:cNvPr id="5" name="Rectangle 4"/>
          <p:cNvSpPr/>
          <p:nvPr/>
        </p:nvSpPr>
        <p:spPr>
          <a:xfrm>
            <a:off x="0" y="1051560"/>
            <a:ext cx="12188952" cy="58064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737360"/>
            <a:ext cx="2011680" cy="1874519"/>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828800"/>
            <a:ext cx="2011680" cy="502920"/>
          </a:xfrm>
          <a:prstGeom prst="rect">
            <a:avLst/>
          </a:prstGeom>
          <a:noFill/>
        </p:spPr>
        <p:txBody>
          <a:bodyPr wrap="square">
            <a:spAutoFit/>
          </a:bodyPr>
          <a:lstStyle/>
          <a:p>
            <a:pPr algn="ctr"/>
            <a:r>
              <a:rPr sz="2800" b="1" i="0">
                <a:solidFill>
                  <a:srgbClr val="FFFFFF"/>
                </a:solidFill>
              </a:rPr>
              <a:t>1</a:t>
            </a:r>
          </a:p>
        </p:txBody>
      </p:sp>
      <p:sp>
        <p:nvSpPr>
          <p:cNvPr id="8" name="TextBox 7"/>
          <p:cNvSpPr txBox="1"/>
          <p:nvPr/>
        </p:nvSpPr>
        <p:spPr>
          <a:xfrm>
            <a:off x="365760" y="2377440"/>
            <a:ext cx="2011680" cy="457200"/>
          </a:xfrm>
          <a:prstGeom prst="rect">
            <a:avLst/>
          </a:prstGeom>
          <a:noFill/>
        </p:spPr>
        <p:txBody>
          <a:bodyPr wrap="square">
            <a:spAutoFit/>
          </a:bodyPr>
          <a:lstStyle/>
          <a:p>
            <a:pPr algn="ctr"/>
            <a:r>
              <a:rPr sz="1500" b="1" i="0">
                <a:solidFill>
                  <a:srgbClr val="FFFFFF"/>
                </a:solidFill>
              </a:rPr>
              <a:t>Filter</a:t>
            </a:r>
          </a:p>
        </p:txBody>
      </p:sp>
      <p:sp>
        <p:nvSpPr>
          <p:cNvPr id="9" name="TextBox 8"/>
          <p:cNvSpPr txBox="1"/>
          <p:nvPr/>
        </p:nvSpPr>
        <p:spPr>
          <a:xfrm>
            <a:off x="365760" y="2880360"/>
            <a:ext cx="2011680" cy="594360"/>
          </a:xfrm>
          <a:prstGeom prst="rect">
            <a:avLst/>
          </a:prstGeom>
          <a:noFill/>
        </p:spPr>
        <p:txBody>
          <a:bodyPr wrap="square">
            <a:spAutoFit/>
          </a:bodyPr>
          <a:lstStyle/>
          <a:p>
            <a:pPr algn="ctr"/>
            <a:r>
              <a:rPr sz="1100" b="0" i="0">
                <a:solidFill>
                  <a:srgbClr val="DCD7FF"/>
                </a:solidFill>
              </a:rPr>
              <a:t>Diet · Cuisine
Cooking Time</a:t>
            </a:r>
          </a:p>
        </p:txBody>
      </p:sp>
      <p:sp>
        <p:nvSpPr>
          <p:cNvPr id="10" name="TextBox 9"/>
          <p:cNvSpPr txBox="1"/>
          <p:nvPr/>
        </p:nvSpPr>
        <p:spPr>
          <a:xfrm>
            <a:off x="2377440" y="2468880"/>
            <a:ext cx="347472" cy="411480"/>
          </a:xfrm>
          <a:prstGeom prst="rect">
            <a:avLst/>
          </a:prstGeom>
          <a:noFill/>
        </p:spPr>
        <p:txBody>
          <a:bodyPr wrap="square">
            <a:spAutoFit/>
          </a:bodyPr>
          <a:lstStyle/>
          <a:p>
            <a:pPr algn="ctr"/>
            <a:r>
              <a:rPr sz="2400" b="1" i="0">
                <a:solidFill>
                  <a:srgbClr val="764BA2"/>
                </a:solidFill>
              </a:rPr>
              <a:t>→</a:t>
            </a:r>
          </a:p>
        </p:txBody>
      </p:sp>
      <p:sp>
        <p:nvSpPr>
          <p:cNvPr id="11" name="Rectangle 10"/>
          <p:cNvSpPr/>
          <p:nvPr/>
        </p:nvSpPr>
        <p:spPr>
          <a:xfrm>
            <a:off x="2743200" y="1737360"/>
            <a:ext cx="2011680" cy="1874519"/>
          </a:xfrm>
          <a:prstGeom prst="rect">
            <a:avLst/>
          </a:prstGeom>
          <a:solidFill>
            <a:srgbClr val="764B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1828800"/>
            <a:ext cx="2011680" cy="502920"/>
          </a:xfrm>
          <a:prstGeom prst="rect">
            <a:avLst/>
          </a:prstGeom>
          <a:noFill/>
        </p:spPr>
        <p:txBody>
          <a:bodyPr wrap="square">
            <a:spAutoFit/>
          </a:bodyPr>
          <a:lstStyle/>
          <a:p>
            <a:pPr algn="ctr"/>
            <a:r>
              <a:rPr sz="2800" b="1" i="0">
                <a:solidFill>
                  <a:srgbClr val="FFFFFF"/>
                </a:solidFill>
              </a:rPr>
              <a:t>2</a:t>
            </a:r>
          </a:p>
        </p:txBody>
      </p:sp>
      <p:sp>
        <p:nvSpPr>
          <p:cNvPr id="13" name="TextBox 12"/>
          <p:cNvSpPr txBox="1"/>
          <p:nvPr/>
        </p:nvSpPr>
        <p:spPr>
          <a:xfrm>
            <a:off x="2743200" y="2377440"/>
            <a:ext cx="2011680" cy="457200"/>
          </a:xfrm>
          <a:prstGeom prst="rect">
            <a:avLst/>
          </a:prstGeom>
          <a:noFill/>
        </p:spPr>
        <p:txBody>
          <a:bodyPr wrap="square">
            <a:spAutoFit/>
          </a:bodyPr>
          <a:lstStyle/>
          <a:p>
            <a:pPr algn="ctr"/>
            <a:r>
              <a:rPr sz="1500" b="1" i="0">
                <a:solidFill>
                  <a:srgbClr val="FFFFFF"/>
                </a:solidFill>
              </a:rPr>
              <a:t>ML Score</a:t>
            </a:r>
          </a:p>
        </p:txBody>
      </p:sp>
      <p:sp>
        <p:nvSpPr>
          <p:cNvPr id="14" name="TextBox 13"/>
          <p:cNvSpPr txBox="1"/>
          <p:nvPr/>
        </p:nvSpPr>
        <p:spPr>
          <a:xfrm>
            <a:off x="2743200" y="2880360"/>
            <a:ext cx="2011680" cy="594360"/>
          </a:xfrm>
          <a:prstGeom prst="rect">
            <a:avLst/>
          </a:prstGeom>
          <a:noFill/>
        </p:spPr>
        <p:txBody>
          <a:bodyPr wrap="square">
            <a:spAutoFit/>
          </a:bodyPr>
          <a:lstStyle/>
          <a:p>
            <a:pPr algn="ctr"/>
            <a:r>
              <a:rPr sz="1100" b="0" i="0">
                <a:solidFill>
                  <a:srgbClr val="DCD7FF"/>
                </a:solidFill>
              </a:rPr>
              <a:t>5-Model
Weighted Ensemble</a:t>
            </a:r>
          </a:p>
        </p:txBody>
      </p:sp>
      <p:sp>
        <p:nvSpPr>
          <p:cNvPr id="15" name="TextBox 14"/>
          <p:cNvSpPr txBox="1"/>
          <p:nvPr/>
        </p:nvSpPr>
        <p:spPr>
          <a:xfrm>
            <a:off x="4754880" y="2468880"/>
            <a:ext cx="347472" cy="411480"/>
          </a:xfrm>
          <a:prstGeom prst="rect">
            <a:avLst/>
          </a:prstGeom>
          <a:noFill/>
        </p:spPr>
        <p:txBody>
          <a:bodyPr wrap="square">
            <a:spAutoFit/>
          </a:bodyPr>
          <a:lstStyle/>
          <a:p>
            <a:pPr algn="ctr"/>
            <a:r>
              <a:rPr sz="2400" b="1" i="0">
                <a:solidFill>
                  <a:srgbClr val="764BA2"/>
                </a:solidFill>
              </a:rPr>
              <a:t>→</a:t>
            </a:r>
          </a:p>
        </p:txBody>
      </p:sp>
      <p:sp>
        <p:nvSpPr>
          <p:cNvPr id="16" name="Rectangle 15"/>
          <p:cNvSpPr/>
          <p:nvPr/>
        </p:nvSpPr>
        <p:spPr>
          <a:xfrm>
            <a:off x="5120640" y="1737360"/>
            <a:ext cx="2011680" cy="1874519"/>
          </a:xfrm>
          <a:prstGeom prst="rect">
            <a:avLst/>
          </a:prstGeom>
          <a:solidFill>
            <a:srgbClr val="503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828800"/>
            <a:ext cx="2011680" cy="502920"/>
          </a:xfrm>
          <a:prstGeom prst="rect">
            <a:avLst/>
          </a:prstGeom>
          <a:noFill/>
        </p:spPr>
        <p:txBody>
          <a:bodyPr wrap="square">
            <a:spAutoFit/>
          </a:bodyPr>
          <a:lstStyle/>
          <a:p>
            <a:pPr algn="ctr"/>
            <a:r>
              <a:rPr sz="2800" b="1" i="0">
                <a:solidFill>
                  <a:srgbClr val="FFFFFF"/>
                </a:solidFill>
              </a:rPr>
              <a:t>3</a:t>
            </a:r>
          </a:p>
        </p:txBody>
      </p:sp>
      <p:sp>
        <p:nvSpPr>
          <p:cNvPr id="18" name="TextBox 17"/>
          <p:cNvSpPr txBox="1"/>
          <p:nvPr/>
        </p:nvSpPr>
        <p:spPr>
          <a:xfrm>
            <a:off x="5120640" y="2377440"/>
            <a:ext cx="2011680" cy="457200"/>
          </a:xfrm>
          <a:prstGeom prst="rect">
            <a:avLst/>
          </a:prstGeom>
          <a:noFill/>
        </p:spPr>
        <p:txBody>
          <a:bodyPr wrap="square">
            <a:spAutoFit/>
          </a:bodyPr>
          <a:lstStyle/>
          <a:p>
            <a:pPr algn="ctr"/>
            <a:r>
              <a:rPr sz="1500" b="1" i="0">
                <a:solidFill>
                  <a:srgbClr val="FFFFFF"/>
                </a:solidFill>
              </a:rPr>
              <a:t>Personalize</a:t>
            </a:r>
          </a:p>
        </p:txBody>
      </p:sp>
      <p:sp>
        <p:nvSpPr>
          <p:cNvPr id="19" name="TextBox 18"/>
          <p:cNvSpPr txBox="1"/>
          <p:nvPr/>
        </p:nvSpPr>
        <p:spPr>
          <a:xfrm>
            <a:off x="5120640" y="2880360"/>
            <a:ext cx="2011680" cy="594360"/>
          </a:xfrm>
          <a:prstGeom prst="rect">
            <a:avLst/>
          </a:prstGeom>
          <a:noFill/>
        </p:spPr>
        <p:txBody>
          <a:bodyPr wrap="square">
            <a:spAutoFit/>
          </a:bodyPr>
          <a:lstStyle/>
          <a:p>
            <a:pPr algn="ctr"/>
            <a:r>
              <a:rPr sz="1100" b="0" i="0">
                <a:solidFill>
                  <a:srgbClr val="DCD7FF"/>
                </a:solidFill>
              </a:rPr>
              <a:t>Taste · Health
Nutrition</a:t>
            </a:r>
          </a:p>
        </p:txBody>
      </p:sp>
      <p:sp>
        <p:nvSpPr>
          <p:cNvPr id="20" name="TextBox 19"/>
          <p:cNvSpPr txBox="1"/>
          <p:nvPr/>
        </p:nvSpPr>
        <p:spPr>
          <a:xfrm>
            <a:off x="7132320" y="2468880"/>
            <a:ext cx="347472" cy="411480"/>
          </a:xfrm>
          <a:prstGeom prst="rect">
            <a:avLst/>
          </a:prstGeom>
          <a:noFill/>
        </p:spPr>
        <p:txBody>
          <a:bodyPr wrap="square">
            <a:spAutoFit/>
          </a:bodyPr>
          <a:lstStyle/>
          <a:p>
            <a:pPr algn="ctr"/>
            <a:r>
              <a:rPr sz="2400" b="1" i="0">
                <a:solidFill>
                  <a:srgbClr val="764BA2"/>
                </a:solidFill>
              </a:rPr>
              <a:t>→</a:t>
            </a:r>
          </a:p>
        </p:txBody>
      </p:sp>
      <p:sp>
        <p:nvSpPr>
          <p:cNvPr id="21" name="Rectangle 20"/>
          <p:cNvSpPr/>
          <p:nvPr/>
        </p:nvSpPr>
        <p:spPr>
          <a:xfrm>
            <a:off x="7498080" y="1737360"/>
            <a:ext cx="2011680" cy="1874519"/>
          </a:xfrm>
          <a:prstGeom prst="rect">
            <a:avLst/>
          </a:prstGeom>
          <a:solidFill>
            <a:srgbClr val="3C28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0" y="1828800"/>
            <a:ext cx="2011680" cy="502920"/>
          </a:xfrm>
          <a:prstGeom prst="rect">
            <a:avLst/>
          </a:prstGeom>
          <a:noFill/>
        </p:spPr>
        <p:txBody>
          <a:bodyPr wrap="square">
            <a:spAutoFit/>
          </a:bodyPr>
          <a:lstStyle/>
          <a:p>
            <a:pPr algn="ctr"/>
            <a:r>
              <a:rPr sz="2800" b="1" i="0">
                <a:solidFill>
                  <a:srgbClr val="FFFFFF"/>
                </a:solidFill>
              </a:rPr>
              <a:t>4</a:t>
            </a:r>
          </a:p>
        </p:txBody>
      </p:sp>
      <p:sp>
        <p:nvSpPr>
          <p:cNvPr id="23" name="TextBox 22"/>
          <p:cNvSpPr txBox="1"/>
          <p:nvPr/>
        </p:nvSpPr>
        <p:spPr>
          <a:xfrm>
            <a:off x="7498080" y="2377440"/>
            <a:ext cx="2011680" cy="457200"/>
          </a:xfrm>
          <a:prstGeom prst="rect">
            <a:avLst/>
          </a:prstGeom>
          <a:noFill/>
        </p:spPr>
        <p:txBody>
          <a:bodyPr wrap="square">
            <a:spAutoFit/>
          </a:bodyPr>
          <a:lstStyle/>
          <a:p>
            <a:pPr algn="ctr"/>
            <a:r>
              <a:rPr sz="1500" b="1" i="0">
                <a:solidFill>
                  <a:srgbClr val="FFFFFF"/>
                </a:solidFill>
              </a:rPr>
              <a:t>Collab Filter</a:t>
            </a:r>
          </a:p>
        </p:txBody>
      </p:sp>
      <p:sp>
        <p:nvSpPr>
          <p:cNvPr id="24" name="TextBox 23"/>
          <p:cNvSpPr txBox="1"/>
          <p:nvPr/>
        </p:nvSpPr>
        <p:spPr>
          <a:xfrm>
            <a:off x="7498080" y="2880360"/>
            <a:ext cx="2011680" cy="594360"/>
          </a:xfrm>
          <a:prstGeom prst="rect">
            <a:avLst/>
          </a:prstGeom>
          <a:noFill/>
        </p:spPr>
        <p:txBody>
          <a:bodyPr wrap="square">
            <a:spAutoFit/>
          </a:bodyPr>
          <a:lstStyle/>
          <a:p>
            <a:pPr algn="ctr"/>
            <a:r>
              <a:rPr sz="1100" b="0" i="0">
                <a:solidFill>
                  <a:srgbClr val="DCD7FF"/>
                </a:solidFill>
              </a:rPr>
              <a:t>Similar-User
Ratings</a:t>
            </a:r>
          </a:p>
        </p:txBody>
      </p:sp>
      <p:sp>
        <p:nvSpPr>
          <p:cNvPr id="25" name="TextBox 24"/>
          <p:cNvSpPr txBox="1"/>
          <p:nvPr/>
        </p:nvSpPr>
        <p:spPr>
          <a:xfrm>
            <a:off x="9509760" y="2468880"/>
            <a:ext cx="347472" cy="411480"/>
          </a:xfrm>
          <a:prstGeom prst="rect">
            <a:avLst/>
          </a:prstGeom>
          <a:noFill/>
        </p:spPr>
        <p:txBody>
          <a:bodyPr wrap="square">
            <a:spAutoFit/>
          </a:bodyPr>
          <a:lstStyle/>
          <a:p>
            <a:pPr algn="ctr"/>
            <a:r>
              <a:rPr sz="2400" b="1" i="0">
                <a:solidFill>
                  <a:srgbClr val="764BA2"/>
                </a:solidFill>
              </a:rPr>
              <a:t>→</a:t>
            </a:r>
          </a:p>
        </p:txBody>
      </p:sp>
      <p:sp>
        <p:nvSpPr>
          <p:cNvPr id="26" name="Rectangle 25"/>
          <p:cNvSpPr/>
          <p:nvPr/>
        </p:nvSpPr>
        <p:spPr>
          <a:xfrm>
            <a:off x="9875520" y="1737360"/>
            <a:ext cx="2011680" cy="1874519"/>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75520" y="1828800"/>
            <a:ext cx="2011680" cy="502920"/>
          </a:xfrm>
          <a:prstGeom prst="rect">
            <a:avLst/>
          </a:prstGeom>
          <a:noFill/>
        </p:spPr>
        <p:txBody>
          <a:bodyPr wrap="square">
            <a:spAutoFit/>
          </a:bodyPr>
          <a:lstStyle/>
          <a:p>
            <a:pPr algn="ctr"/>
            <a:r>
              <a:rPr sz="2800" b="1" i="0">
                <a:solidFill>
                  <a:srgbClr val="FFFFFF"/>
                </a:solidFill>
              </a:rPr>
              <a:t>✓</a:t>
            </a:r>
          </a:p>
        </p:txBody>
      </p:sp>
      <p:sp>
        <p:nvSpPr>
          <p:cNvPr id="28" name="TextBox 27"/>
          <p:cNvSpPr txBox="1"/>
          <p:nvPr/>
        </p:nvSpPr>
        <p:spPr>
          <a:xfrm>
            <a:off x="9875520" y="2377440"/>
            <a:ext cx="2011680" cy="457200"/>
          </a:xfrm>
          <a:prstGeom prst="rect">
            <a:avLst/>
          </a:prstGeom>
          <a:noFill/>
        </p:spPr>
        <p:txBody>
          <a:bodyPr wrap="square">
            <a:spAutoFit/>
          </a:bodyPr>
          <a:lstStyle/>
          <a:p>
            <a:pPr algn="ctr"/>
            <a:r>
              <a:rPr sz="1500" b="1" i="0">
                <a:solidFill>
                  <a:srgbClr val="FFFFFF"/>
                </a:solidFill>
              </a:rPr>
              <a:t>Top 10</a:t>
            </a:r>
          </a:p>
        </p:txBody>
      </p:sp>
      <p:sp>
        <p:nvSpPr>
          <p:cNvPr id="29" name="TextBox 28"/>
          <p:cNvSpPr txBox="1"/>
          <p:nvPr/>
        </p:nvSpPr>
        <p:spPr>
          <a:xfrm>
            <a:off x="9875520" y="2880360"/>
            <a:ext cx="2011680" cy="594360"/>
          </a:xfrm>
          <a:prstGeom prst="rect">
            <a:avLst/>
          </a:prstGeom>
          <a:noFill/>
        </p:spPr>
        <p:txBody>
          <a:bodyPr wrap="square">
            <a:spAutoFit/>
          </a:bodyPr>
          <a:lstStyle/>
          <a:p>
            <a:pPr algn="ctr"/>
            <a:r>
              <a:rPr sz="1100" b="0" i="0">
                <a:solidFill>
                  <a:srgbClr val="DCD7FF"/>
                </a:solidFill>
              </a:rPr>
              <a:t>Best Recipes
Shown to User</a:t>
            </a:r>
          </a:p>
        </p:txBody>
      </p:sp>
      <p:sp>
        <p:nvSpPr>
          <p:cNvPr id="30" name="TextBox 29"/>
          <p:cNvSpPr txBox="1"/>
          <p:nvPr/>
        </p:nvSpPr>
        <p:spPr>
          <a:xfrm>
            <a:off x="457200" y="4069080"/>
            <a:ext cx="11430000" cy="402336"/>
          </a:xfrm>
          <a:prstGeom prst="rect">
            <a:avLst/>
          </a:prstGeom>
          <a:noFill/>
        </p:spPr>
        <p:txBody>
          <a:bodyPr wrap="square">
            <a:spAutoFit/>
          </a:bodyPr>
          <a:lstStyle/>
          <a:p>
            <a:pPr algn="l"/>
            <a:r>
              <a:rPr sz="1300" b="0" i="0">
                <a:solidFill>
                  <a:srgbClr val="2C3E50"/>
                </a:solidFill>
              </a:rPr>
              <a:t>① Only recipes matching the selected diet type and cuisine enter — a Non-Vegetarian filter will never show chicken-free results.</a:t>
            </a:r>
          </a:p>
        </p:txBody>
      </p:sp>
      <p:sp>
        <p:nvSpPr>
          <p:cNvPr id="31" name="TextBox 30"/>
          <p:cNvSpPr txBox="1"/>
          <p:nvPr/>
        </p:nvSpPr>
        <p:spPr>
          <a:xfrm>
            <a:off x="457200" y="4526280"/>
            <a:ext cx="11430000" cy="402336"/>
          </a:xfrm>
          <a:prstGeom prst="rect">
            <a:avLst/>
          </a:prstGeom>
          <a:noFill/>
        </p:spPr>
        <p:txBody>
          <a:bodyPr wrap="square">
            <a:spAutoFit/>
          </a:bodyPr>
          <a:lstStyle/>
          <a:p>
            <a:pPr algn="l"/>
            <a:r>
              <a:rPr sz="1300" b="0" i="0">
                <a:solidFill>
                  <a:srgbClr val="2C3E50"/>
                </a:solidFill>
              </a:rPr>
              <a:t>② All 5 ML models score each recipe individually. Each model's vote is weighted by its measured accuracy.</a:t>
            </a:r>
          </a:p>
        </p:txBody>
      </p:sp>
      <p:sp>
        <p:nvSpPr>
          <p:cNvPr id="32" name="TextBox 31"/>
          <p:cNvSpPr txBox="1"/>
          <p:nvPr/>
        </p:nvSpPr>
        <p:spPr>
          <a:xfrm>
            <a:off x="457200" y="4983480"/>
            <a:ext cx="11430000" cy="402336"/>
          </a:xfrm>
          <a:prstGeom prst="rect">
            <a:avLst/>
          </a:prstGeom>
          <a:noFill/>
        </p:spPr>
        <p:txBody>
          <a:bodyPr wrap="square">
            <a:spAutoFit/>
          </a:bodyPr>
          <a:lstStyle/>
          <a:p>
            <a:pPr algn="l"/>
            <a:r>
              <a:rPr sz="1300" b="0" i="0">
                <a:solidFill>
                  <a:srgbClr val="2C3E50"/>
                </a:solidFill>
              </a:rPr>
              <a:t>③ Taste match (+25%), health-condition nutrition bonus (+20%), and nutrient quality (+15%) are added on top of the ML score.</a:t>
            </a:r>
          </a:p>
        </p:txBody>
      </p:sp>
      <p:sp>
        <p:nvSpPr>
          <p:cNvPr id="33" name="TextBox 32"/>
          <p:cNvSpPr txBox="1"/>
          <p:nvPr/>
        </p:nvSpPr>
        <p:spPr>
          <a:xfrm>
            <a:off x="457200" y="5440680"/>
            <a:ext cx="11430000" cy="402336"/>
          </a:xfrm>
          <a:prstGeom prst="rect">
            <a:avLst/>
          </a:prstGeom>
          <a:noFill/>
        </p:spPr>
        <p:txBody>
          <a:bodyPr wrap="square">
            <a:spAutoFit/>
          </a:bodyPr>
          <a:lstStyle/>
          <a:p>
            <a:pPr algn="l"/>
            <a:r>
              <a:rPr sz="1300" b="0" i="0">
                <a:solidFill>
                  <a:srgbClr val="2C3E50"/>
                </a:solidFill>
              </a:rPr>
              <a:t>④ After rating recipes, similar-user suggestions appear automatically — same approach used by Netflix and Spotify.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3000" b="1" i="0">
                <a:solidFill>
                  <a:srgbClr val="FFFFFF"/>
                </a:solidFill>
              </a:rPr>
              <a:t>Layer 2 — The 5-Model AI Ensemble</a:t>
            </a:r>
          </a:p>
        </p:txBody>
      </p:sp>
      <p:sp>
        <p:nvSpPr>
          <p:cNvPr id="4" name="TextBox 3"/>
          <p:cNvSpPr txBox="1"/>
          <p:nvPr/>
        </p:nvSpPr>
        <p:spPr>
          <a:xfrm>
            <a:off x="365760" y="640080"/>
            <a:ext cx="11430000" cy="347472"/>
          </a:xfrm>
          <a:prstGeom prst="rect">
            <a:avLst/>
          </a:prstGeom>
          <a:noFill/>
        </p:spPr>
        <p:txBody>
          <a:bodyPr wrap="square">
            <a:spAutoFit/>
          </a:bodyPr>
          <a:lstStyle/>
          <a:p>
            <a:pPr algn="l"/>
            <a:r>
              <a:rPr sz="1400" b="0" i="1">
                <a:solidFill>
                  <a:srgbClr val="DCD7FF"/>
                </a:solidFill>
              </a:rPr>
              <a:t>Each model scores every recipe for the user; results are accuracy-weighted and combined</a:t>
            </a:r>
          </a:p>
        </p:txBody>
      </p:sp>
      <p:sp>
        <p:nvSpPr>
          <p:cNvPr id="5" name="Rectangle 4"/>
          <p:cNvSpPr/>
          <p:nvPr/>
        </p:nvSpPr>
        <p:spPr>
          <a:xfrm>
            <a:off x="0" y="1051560"/>
            <a:ext cx="12188952" cy="58064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34440"/>
            <a:ext cx="2468880" cy="841248"/>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280160"/>
            <a:ext cx="2331720" cy="365760"/>
          </a:xfrm>
          <a:prstGeom prst="rect">
            <a:avLst/>
          </a:prstGeom>
          <a:noFill/>
        </p:spPr>
        <p:txBody>
          <a:bodyPr wrap="square">
            <a:spAutoFit/>
          </a:bodyPr>
          <a:lstStyle/>
          <a:p>
            <a:pPr algn="l"/>
            <a:r>
              <a:rPr sz="1400" b="1" i="0">
                <a:solidFill>
                  <a:srgbClr val="FFFFFF"/>
                </a:solidFill>
              </a:rPr>
              <a:t>Random Forest</a:t>
            </a:r>
          </a:p>
        </p:txBody>
      </p:sp>
      <p:sp>
        <p:nvSpPr>
          <p:cNvPr id="8" name="TextBox 7"/>
          <p:cNvSpPr txBox="1"/>
          <p:nvPr/>
        </p:nvSpPr>
        <p:spPr>
          <a:xfrm>
            <a:off x="411480" y="1673352"/>
            <a:ext cx="2331720" cy="320040"/>
          </a:xfrm>
          <a:prstGeom prst="rect">
            <a:avLst/>
          </a:prstGeom>
          <a:noFill/>
        </p:spPr>
        <p:txBody>
          <a:bodyPr wrap="square">
            <a:spAutoFit/>
          </a:bodyPr>
          <a:lstStyle/>
          <a:p>
            <a:pPr algn="l"/>
            <a:r>
              <a:rPr sz="1100" b="0" i="1">
                <a:solidFill>
                  <a:srgbClr val="DCD7FF"/>
                </a:solidFill>
              </a:rPr>
              <a:t>by scikit-learn</a:t>
            </a:r>
          </a:p>
        </p:txBody>
      </p:sp>
      <p:sp>
        <p:nvSpPr>
          <p:cNvPr id="9" name="TextBox 8"/>
          <p:cNvSpPr txBox="1"/>
          <p:nvPr/>
        </p:nvSpPr>
        <p:spPr>
          <a:xfrm>
            <a:off x="2880360" y="1271016"/>
            <a:ext cx="2743200" cy="347472"/>
          </a:xfrm>
          <a:prstGeom prst="rect">
            <a:avLst/>
          </a:prstGeom>
          <a:noFill/>
        </p:spPr>
        <p:txBody>
          <a:bodyPr wrap="square">
            <a:spAutoFit/>
          </a:bodyPr>
          <a:lstStyle/>
          <a:p>
            <a:pPr algn="l"/>
            <a:r>
              <a:rPr sz="1200" b="1" i="0">
                <a:solidFill>
                  <a:srgbClr val="764BA2"/>
                </a:solidFill>
              </a:rPr>
              <a:t>100 trees · max depth 10</a:t>
            </a:r>
          </a:p>
        </p:txBody>
      </p:sp>
      <p:sp>
        <p:nvSpPr>
          <p:cNvPr id="10" name="TextBox 9"/>
          <p:cNvSpPr txBox="1"/>
          <p:nvPr/>
        </p:nvSpPr>
        <p:spPr>
          <a:xfrm>
            <a:off x="2880360" y="1636776"/>
            <a:ext cx="8869680" cy="438912"/>
          </a:xfrm>
          <a:prstGeom prst="rect">
            <a:avLst/>
          </a:prstGeom>
          <a:noFill/>
        </p:spPr>
        <p:txBody>
          <a:bodyPr wrap="square">
            <a:spAutoFit/>
          </a:bodyPr>
          <a:lstStyle/>
          <a:p>
            <a:pPr algn="l"/>
            <a:r>
              <a:rPr sz="1200" b="0" i="0">
                <a:solidFill>
                  <a:srgbClr val="2C3E50"/>
                </a:solidFill>
              </a:rPr>
              <a:t>An ensemble of 100 decision trees each trained on a random data subset. They vote together — robust and noise-resistant.</a:t>
            </a:r>
          </a:p>
        </p:txBody>
      </p:sp>
      <p:sp>
        <p:nvSpPr>
          <p:cNvPr id="11" name="Rectangle 10"/>
          <p:cNvSpPr/>
          <p:nvPr/>
        </p:nvSpPr>
        <p:spPr>
          <a:xfrm>
            <a:off x="320040" y="2185416"/>
            <a:ext cx="2468880" cy="841248"/>
          </a:xfrm>
          <a:prstGeom prst="rect">
            <a:avLst/>
          </a:prstGeom>
          <a:solidFill>
            <a:srgbClr val="764B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231136"/>
            <a:ext cx="2331720" cy="365760"/>
          </a:xfrm>
          <a:prstGeom prst="rect">
            <a:avLst/>
          </a:prstGeom>
          <a:noFill/>
        </p:spPr>
        <p:txBody>
          <a:bodyPr wrap="square">
            <a:spAutoFit/>
          </a:bodyPr>
          <a:lstStyle/>
          <a:p>
            <a:pPr algn="l"/>
            <a:r>
              <a:rPr sz="1400" b="1" i="0">
                <a:solidFill>
                  <a:srgbClr val="FFFFFF"/>
                </a:solidFill>
              </a:rPr>
              <a:t>XGBoost</a:t>
            </a:r>
          </a:p>
        </p:txBody>
      </p:sp>
      <p:sp>
        <p:nvSpPr>
          <p:cNvPr id="13" name="TextBox 12"/>
          <p:cNvSpPr txBox="1"/>
          <p:nvPr/>
        </p:nvSpPr>
        <p:spPr>
          <a:xfrm>
            <a:off x="411480" y="2624328"/>
            <a:ext cx="2331720" cy="320040"/>
          </a:xfrm>
          <a:prstGeom prst="rect">
            <a:avLst/>
          </a:prstGeom>
          <a:noFill/>
        </p:spPr>
        <p:txBody>
          <a:bodyPr wrap="square">
            <a:spAutoFit/>
          </a:bodyPr>
          <a:lstStyle/>
          <a:p>
            <a:pPr algn="l"/>
            <a:r>
              <a:rPr sz="1100" b="0" i="1">
                <a:solidFill>
                  <a:srgbClr val="DCD7FF"/>
                </a:solidFill>
              </a:rPr>
              <a:t>by xgboost</a:t>
            </a:r>
          </a:p>
        </p:txBody>
      </p:sp>
      <p:sp>
        <p:nvSpPr>
          <p:cNvPr id="14" name="TextBox 13"/>
          <p:cNvSpPr txBox="1"/>
          <p:nvPr/>
        </p:nvSpPr>
        <p:spPr>
          <a:xfrm>
            <a:off x="2880360" y="2221992"/>
            <a:ext cx="2743200" cy="347472"/>
          </a:xfrm>
          <a:prstGeom prst="rect">
            <a:avLst/>
          </a:prstGeom>
          <a:noFill/>
        </p:spPr>
        <p:txBody>
          <a:bodyPr wrap="square">
            <a:spAutoFit/>
          </a:bodyPr>
          <a:lstStyle/>
          <a:p>
            <a:pPr algn="l"/>
            <a:r>
              <a:rPr sz="1200" b="1" i="0">
                <a:solidFill>
                  <a:srgbClr val="764BA2"/>
                </a:solidFill>
              </a:rPr>
              <a:t>100 trees · depth 6 · logloss</a:t>
            </a:r>
          </a:p>
        </p:txBody>
      </p:sp>
      <p:sp>
        <p:nvSpPr>
          <p:cNvPr id="15" name="TextBox 14"/>
          <p:cNvSpPr txBox="1"/>
          <p:nvPr/>
        </p:nvSpPr>
        <p:spPr>
          <a:xfrm>
            <a:off x="2880360" y="2587752"/>
            <a:ext cx="8869680" cy="438912"/>
          </a:xfrm>
          <a:prstGeom prst="rect">
            <a:avLst/>
          </a:prstGeom>
          <a:noFill/>
        </p:spPr>
        <p:txBody>
          <a:bodyPr wrap="square">
            <a:spAutoFit/>
          </a:bodyPr>
          <a:lstStyle/>
          <a:p>
            <a:pPr algn="l"/>
            <a:r>
              <a:rPr sz="1200" b="0" i="0">
                <a:solidFill>
                  <a:srgbClr val="2C3E50"/>
                </a:solidFill>
              </a:rPr>
              <a:t>Gradient-boosted trees built sequentially — each new tree corrects the previous one's errors. Strong on tabular data.</a:t>
            </a:r>
          </a:p>
        </p:txBody>
      </p:sp>
      <p:sp>
        <p:nvSpPr>
          <p:cNvPr id="16" name="Rectangle 15"/>
          <p:cNvSpPr/>
          <p:nvPr/>
        </p:nvSpPr>
        <p:spPr>
          <a:xfrm>
            <a:off x="320040" y="3136392"/>
            <a:ext cx="2468880" cy="841248"/>
          </a:xfrm>
          <a:prstGeom prst="rect">
            <a:avLst/>
          </a:prstGeom>
          <a:solidFill>
            <a:srgbClr val="5037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3182112"/>
            <a:ext cx="2331720" cy="365760"/>
          </a:xfrm>
          <a:prstGeom prst="rect">
            <a:avLst/>
          </a:prstGeom>
          <a:noFill/>
        </p:spPr>
        <p:txBody>
          <a:bodyPr wrap="square">
            <a:spAutoFit/>
          </a:bodyPr>
          <a:lstStyle/>
          <a:p>
            <a:pPr algn="l"/>
            <a:r>
              <a:rPr sz="1400" b="1" i="0">
                <a:solidFill>
                  <a:srgbClr val="FFFFFF"/>
                </a:solidFill>
              </a:rPr>
              <a:t>Neural Network</a:t>
            </a:r>
          </a:p>
        </p:txBody>
      </p:sp>
      <p:sp>
        <p:nvSpPr>
          <p:cNvPr id="18" name="TextBox 17"/>
          <p:cNvSpPr txBox="1"/>
          <p:nvPr/>
        </p:nvSpPr>
        <p:spPr>
          <a:xfrm>
            <a:off x="411480" y="3575304"/>
            <a:ext cx="2331720" cy="320040"/>
          </a:xfrm>
          <a:prstGeom prst="rect">
            <a:avLst/>
          </a:prstGeom>
          <a:noFill/>
        </p:spPr>
        <p:txBody>
          <a:bodyPr wrap="square">
            <a:spAutoFit/>
          </a:bodyPr>
          <a:lstStyle/>
          <a:p>
            <a:pPr algn="l"/>
            <a:r>
              <a:rPr sz="1100" b="0" i="1">
                <a:solidFill>
                  <a:srgbClr val="DCD7FF"/>
                </a:solidFill>
              </a:rPr>
              <a:t>by scikit-learn MLP</a:t>
            </a:r>
          </a:p>
        </p:txBody>
      </p:sp>
      <p:sp>
        <p:nvSpPr>
          <p:cNvPr id="19" name="TextBox 18"/>
          <p:cNvSpPr txBox="1"/>
          <p:nvPr/>
        </p:nvSpPr>
        <p:spPr>
          <a:xfrm>
            <a:off x="2880360" y="3172968"/>
            <a:ext cx="2743200" cy="347472"/>
          </a:xfrm>
          <a:prstGeom prst="rect">
            <a:avLst/>
          </a:prstGeom>
          <a:noFill/>
        </p:spPr>
        <p:txBody>
          <a:bodyPr wrap="square">
            <a:spAutoFit/>
          </a:bodyPr>
          <a:lstStyle/>
          <a:p>
            <a:pPr algn="l"/>
            <a:r>
              <a:rPr sz="1200" b="1" i="0">
                <a:solidFill>
                  <a:srgbClr val="764BA2"/>
                </a:solidFill>
              </a:rPr>
              <a:t>64 → 32 neurons · 300 iterations</a:t>
            </a:r>
          </a:p>
        </p:txBody>
      </p:sp>
      <p:sp>
        <p:nvSpPr>
          <p:cNvPr id="20" name="TextBox 19"/>
          <p:cNvSpPr txBox="1"/>
          <p:nvPr/>
        </p:nvSpPr>
        <p:spPr>
          <a:xfrm>
            <a:off x="2880360" y="3538728"/>
            <a:ext cx="8869680" cy="438912"/>
          </a:xfrm>
          <a:prstGeom prst="rect">
            <a:avLst/>
          </a:prstGeom>
          <a:noFill/>
        </p:spPr>
        <p:txBody>
          <a:bodyPr wrap="square">
            <a:spAutoFit/>
          </a:bodyPr>
          <a:lstStyle/>
          <a:p>
            <a:pPr algn="l"/>
            <a:r>
              <a:rPr sz="1200" b="0" i="0">
                <a:solidFill>
                  <a:srgbClr val="2C3E50"/>
                </a:solidFill>
              </a:rPr>
              <a:t>A three-layer neural network that learns non-linear relationships between features that tree models may miss.</a:t>
            </a:r>
          </a:p>
        </p:txBody>
      </p:sp>
      <p:sp>
        <p:nvSpPr>
          <p:cNvPr id="21" name="Rectangle 20"/>
          <p:cNvSpPr/>
          <p:nvPr/>
        </p:nvSpPr>
        <p:spPr>
          <a:xfrm>
            <a:off x="320040" y="4087368"/>
            <a:ext cx="2468880" cy="841248"/>
          </a:xfrm>
          <a:prstGeom prst="rect">
            <a:avLst/>
          </a:prstGeom>
          <a:solidFill>
            <a:srgbClr val="3C6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4133088"/>
            <a:ext cx="2331720" cy="365760"/>
          </a:xfrm>
          <a:prstGeom prst="rect">
            <a:avLst/>
          </a:prstGeom>
          <a:noFill/>
        </p:spPr>
        <p:txBody>
          <a:bodyPr wrap="square">
            <a:spAutoFit/>
          </a:bodyPr>
          <a:lstStyle/>
          <a:p>
            <a:pPr algn="l"/>
            <a:r>
              <a:rPr sz="1400" b="1" i="0">
                <a:solidFill>
                  <a:srgbClr val="FFFFFF"/>
                </a:solidFill>
              </a:rPr>
              <a:t>LightGBM</a:t>
            </a:r>
          </a:p>
        </p:txBody>
      </p:sp>
      <p:sp>
        <p:nvSpPr>
          <p:cNvPr id="23" name="TextBox 22"/>
          <p:cNvSpPr txBox="1"/>
          <p:nvPr/>
        </p:nvSpPr>
        <p:spPr>
          <a:xfrm>
            <a:off x="411480" y="4526280"/>
            <a:ext cx="2331720" cy="320040"/>
          </a:xfrm>
          <a:prstGeom prst="rect">
            <a:avLst/>
          </a:prstGeom>
          <a:noFill/>
        </p:spPr>
        <p:txBody>
          <a:bodyPr wrap="square">
            <a:spAutoFit/>
          </a:bodyPr>
          <a:lstStyle/>
          <a:p>
            <a:pPr algn="l"/>
            <a:r>
              <a:rPr sz="1100" b="0" i="1">
                <a:solidFill>
                  <a:srgbClr val="DCD7FF"/>
                </a:solidFill>
              </a:rPr>
              <a:t>by Microsoft</a:t>
            </a:r>
          </a:p>
        </p:txBody>
      </p:sp>
      <p:sp>
        <p:nvSpPr>
          <p:cNvPr id="24" name="TextBox 23"/>
          <p:cNvSpPr txBox="1"/>
          <p:nvPr/>
        </p:nvSpPr>
        <p:spPr>
          <a:xfrm>
            <a:off x="2880360" y="4123944"/>
            <a:ext cx="2743200" cy="347472"/>
          </a:xfrm>
          <a:prstGeom prst="rect">
            <a:avLst/>
          </a:prstGeom>
          <a:noFill/>
        </p:spPr>
        <p:txBody>
          <a:bodyPr wrap="square">
            <a:spAutoFit/>
          </a:bodyPr>
          <a:lstStyle/>
          <a:p>
            <a:pPr algn="l"/>
            <a:r>
              <a:rPr sz="1200" b="1" i="0">
                <a:solidFill>
                  <a:srgbClr val="764BA2"/>
                </a:solidFill>
              </a:rPr>
              <a:t>200 trees · lr 0.05 · 31 leaves</a:t>
            </a:r>
          </a:p>
        </p:txBody>
      </p:sp>
      <p:sp>
        <p:nvSpPr>
          <p:cNvPr id="25" name="TextBox 24"/>
          <p:cNvSpPr txBox="1"/>
          <p:nvPr/>
        </p:nvSpPr>
        <p:spPr>
          <a:xfrm>
            <a:off x="2880360" y="4489704"/>
            <a:ext cx="8869680" cy="438912"/>
          </a:xfrm>
          <a:prstGeom prst="rect">
            <a:avLst/>
          </a:prstGeom>
          <a:noFill/>
        </p:spPr>
        <p:txBody>
          <a:bodyPr wrap="square">
            <a:spAutoFit/>
          </a:bodyPr>
          <a:lstStyle/>
          <a:p>
            <a:pPr algn="l"/>
            <a:r>
              <a:rPr sz="1200" b="0" i="0">
                <a:solidFill>
                  <a:srgbClr val="2C3E50"/>
                </a:solidFill>
              </a:rPr>
              <a:t>Leaf-wise tree growth (faster &amp; more accurate than level-wise XGBoost). Handles large feature sets well.</a:t>
            </a:r>
          </a:p>
        </p:txBody>
      </p:sp>
      <p:sp>
        <p:nvSpPr>
          <p:cNvPr id="26" name="Rectangle 25"/>
          <p:cNvSpPr/>
          <p:nvPr/>
        </p:nvSpPr>
        <p:spPr>
          <a:xfrm>
            <a:off x="320040" y="5038344"/>
            <a:ext cx="2468880" cy="841248"/>
          </a:xfrm>
          <a:prstGeom prst="rect">
            <a:avLst/>
          </a:prstGeom>
          <a:solidFill>
            <a:srgbClr val="643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5084064"/>
            <a:ext cx="2331720" cy="365760"/>
          </a:xfrm>
          <a:prstGeom prst="rect">
            <a:avLst/>
          </a:prstGeom>
          <a:noFill/>
        </p:spPr>
        <p:txBody>
          <a:bodyPr wrap="square">
            <a:spAutoFit/>
          </a:bodyPr>
          <a:lstStyle/>
          <a:p>
            <a:pPr algn="l"/>
            <a:r>
              <a:rPr sz="1400" b="1" i="0">
                <a:solidFill>
                  <a:srgbClr val="FFFFFF"/>
                </a:solidFill>
              </a:rPr>
              <a:t>CatBoost</a:t>
            </a:r>
          </a:p>
        </p:txBody>
      </p:sp>
      <p:sp>
        <p:nvSpPr>
          <p:cNvPr id="28" name="TextBox 27"/>
          <p:cNvSpPr txBox="1"/>
          <p:nvPr/>
        </p:nvSpPr>
        <p:spPr>
          <a:xfrm>
            <a:off x="411480" y="5477256"/>
            <a:ext cx="2331720" cy="320040"/>
          </a:xfrm>
          <a:prstGeom prst="rect">
            <a:avLst/>
          </a:prstGeom>
          <a:noFill/>
        </p:spPr>
        <p:txBody>
          <a:bodyPr wrap="square">
            <a:spAutoFit/>
          </a:bodyPr>
          <a:lstStyle/>
          <a:p>
            <a:pPr algn="l"/>
            <a:r>
              <a:rPr sz="1100" b="0" i="1">
                <a:solidFill>
                  <a:srgbClr val="DCD7FF"/>
                </a:solidFill>
              </a:rPr>
              <a:t>by Yandex</a:t>
            </a:r>
          </a:p>
        </p:txBody>
      </p:sp>
      <p:sp>
        <p:nvSpPr>
          <p:cNvPr id="29" name="TextBox 28"/>
          <p:cNvSpPr txBox="1"/>
          <p:nvPr/>
        </p:nvSpPr>
        <p:spPr>
          <a:xfrm>
            <a:off x="2880360" y="5074920"/>
            <a:ext cx="2743200" cy="347472"/>
          </a:xfrm>
          <a:prstGeom prst="rect">
            <a:avLst/>
          </a:prstGeom>
          <a:noFill/>
        </p:spPr>
        <p:txBody>
          <a:bodyPr wrap="square">
            <a:spAutoFit/>
          </a:bodyPr>
          <a:lstStyle/>
          <a:p>
            <a:pPr algn="l"/>
            <a:r>
              <a:rPr sz="1200" b="1" i="0">
                <a:solidFill>
                  <a:srgbClr val="764BA2"/>
                </a:solidFill>
              </a:rPr>
              <a:t>200 iterations · depth 6 · lr 0.05</a:t>
            </a:r>
          </a:p>
        </p:txBody>
      </p:sp>
      <p:sp>
        <p:nvSpPr>
          <p:cNvPr id="30" name="TextBox 29"/>
          <p:cNvSpPr txBox="1"/>
          <p:nvPr/>
        </p:nvSpPr>
        <p:spPr>
          <a:xfrm>
            <a:off x="2880360" y="5440680"/>
            <a:ext cx="8869680" cy="438912"/>
          </a:xfrm>
          <a:prstGeom prst="rect">
            <a:avLst/>
          </a:prstGeom>
          <a:noFill/>
        </p:spPr>
        <p:txBody>
          <a:bodyPr wrap="square">
            <a:spAutoFit/>
          </a:bodyPr>
          <a:lstStyle/>
          <a:p>
            <a:pPr algn="l"/>
            <a:r>
              <a:rPr sz="1200" b="0" i="0">
                <a:solidFill>
                  <a:srgbClr val="2C3E50"/>
                </a:solidFill>
              </a:rPr>
              <a:t>Handles categorical features (cuisine, diet type) natively — no manual encoding needed, less information loss.</a:t>
            </a:r>
          </a:p>
        </p:txBody>
      </p:sp>
      <p:sp>
        <p:nvSpPr>
          <p:cNvPr id="31" name="Rectangle 30"/>
          <p:cNvSpPr/>
          <p:nvPr/>
        </p:nvSpPr>
        <p:spPr>
          <a:xfrm>
            <a:off x="320040" y="6199632"/>
            <a:ext cx="11521440" cy="475488"/>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236208"/>
            <a:ext cx="11247120" cy="384048"/>
          </a:xfrm>
          <a:prstGeom prst="rect">
            <a:avLst/>
          </a:prstGeom>
          <a:noFill/>
        </p:spPr>
        <p:txBody>
          <a:bodyPr wrap="square">
            <a:spAutoFit/>
          </a:bodyPr>
          <a:lstStyle/>
          <a:p>
            <a:pPr algn="ctr"/>
            <a:r>
              <a:rPr sz="1400" b="1" i="0">
                <a:solidFill>
                  <a:srgbClr val="FFFFFF"/>
                </a:solidFill>
              </a:rPr>
              <a:t>Weighted Ensemble — Final score = Σ (model_accuracy / total_accuracy) × model_probability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3000" b="1" i="0">
                <a:solidFill>
                  <a:srgbClr val="FFFFFF"/>
                </a:solidFill>
              </a:rPr>
              <a:t>Layer 3 — Multi-Component Personalized Scoring</a:t>
            </a:r>
          </a:p>
        </p:txBody>
      </p:sp>
      <p:sp>
        <p:nvSpPr>
          <p:cNvPr id="4" name="TextBox 3"/>
          <p:cNvSpPr txBox="1"/>
          <p:nvPr/>
        </p:nvSpPr>
        <p:spPr>
          <a:xfrm>
            <a:off x="365760" y="640080"/>
            <a:ext cx="11430000" cy="347472"/>
          </a:xfrm>
          <a:prstGeom prst="rect">
            <a:avLst/>
          </a:prstGeom>
          <a:noFill/>
        </p:spPr>
        <p:txBody>
          <a:bodyPr wrap="square">
            <a:spAutoFit/>
          </a:bodyPr>
          <a:lstStyle/>
          <a:p>
            <a:pPr algn="l"/>
            <a:r>
              <a:rPr sz="1400" b="0" i="1">
                <a:solidFill>
                  <a:srgbClr val="DCD7FF"/>
                </a:solidFill>
              </a:rPr>
              <a:t>ML probability is only 40% — three more signals are combined on top</a:t>
            </a:r>
          </a:p>
        </p:txBody>
      </p:sp>
      <p:sp>
        <p:nvSpPr>
          <p:cNvPr id="5" name="Rectangle 4"/>
          <p:cNvSpPr/>
          <p:nvPr/>
        </p:nvSpPr>
        <p:spPr>
          <a:xfrm>
            <a:off x="0" y="1051560"/>
            <a:ext cx="12188952" cy="58064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182880" y="1188720"/>
            <a:ext cx="5760720" cy="5120640"/>
          </a:xfrm>
          <a:prstGeom prst="rect">
            <a:avLst/>
          </a:prstGeom>
        </p:spPr>
      </p:pic>
      <p:sp>
        <p:nvSpPr>
          <p:cNvPr id="7" name="Rectangle 6"/>
          <p:cNvSpPr/>
          <p:nvPr/>
        </p:nvSpPr>
        <p:spPr>
          <a:xfrm>
            <a:off x="5989320" y="1280160"/>
            <a:ext cx="91440" cy="8229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72200" y="1298448"/>
            <a:ext cx="5669280" cy="347472"/>
          </a:xfrm>
          <a:prstGeom prst="rect">
            <a:avLst/>
          </a:prstGeom>
          <a:noFill/>
        </p:spPr>
        <p:txBody>
          <a:bodyPr wrap="square">
            <a:spAutoFit/>
          </a:bodyPr>
          <a:lstStyle/>
          <a:p>
            <a:pPr algn="l"/>
            <a:r>
              <a:rPr sz="1300" b="1" i="0">
                <a:solidFill>
                  <a:srgbClr val="667EEA"/>
                </a:solidFill>
              </a:rPr>
              <a:t>40%  ML Ensemble</a:t>
            </a:r>
          </a:p>
        </p:txBody>
      </p:sp>
      <p:sp>
        <p:nvSpPr>
          <p:cNvPr id="9" name="TextBox 8"/>
          <p:cNvSpPr txBox="1"/>
          <p:nvPr/>
        </p:nvSpPr>
        <p:spPr>
          <a:xfrm>
            <a:off x="6172200" y="1627632"/>
            <a:ext cx="5669280" cy="530352"/>
          </a:xfrm>
          <a:prstGeom prst="rect">
            <a:avLst/>
          </a:prstGeom>
          <a:noFill/>
        </p:spPr>
        <p:txBody>
          <a:bodyPr wrap="square">
            <a:spAutoFit/>
          </a:bodyPr>
          <a:lstStyle/>
          <a:p>
            <a:pPr algn="l"/>
            <a:r>
              <a:rPr sz="1100" b="0" i="0">
                <a:solidFill>
                  <a:srgbClr val="2C3E50"/>
                </a:solidFill>
              </a:rPr>
              <a:t>Probability output from 5 trained models
learned from 3,000 user–recipe interactions.</a:t>
            </a:r>
          </a:p>
        </p:txBody>
      </p:sp>
      <p:sp>
        <p:nvSpPr>
          <p:cNvPr id="10" name="Rectangle 9"/>
          <p:cNvSpPr/>
          <p:nvPr/>
        </p:nvSpPr>
        <p:spPr>
          <a:xfrm>
            <a:off x="5989320" y="2377440"/>
            <a:ext cx="91440" cy="822960"/>
          </a:xfrm>
          <a:prstGeom prst="rect">
            <a:avLst/>
          </a:prstGeom>
          <a:solidFill>
            <a:srgbClr val="764B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395728"/>
            <a:ext cx="5669280" cy="347472"/>
          </a:xfrm>
          <a:prstGeom prst="rect">
            <a:avLst/>
          </a:prstGeom>
          <a:noFill/>
        </p:spPr>
        <p:txBody>
          <a:bodyPr wrap="square">
            <a:spAutoFit/>
          </a:bodyPr>
          <a:lstStyle/>
          <a:p>
            <a:pPr algn="l"/>
            <a:r>
              <a:rPr sz="1300" b="1" i="0">
                <a:solidFill>
                  <a:srgbClr val="764BA2"/>
                </a:solidFill>
              </a:rPr>
              <a:t>25%  Taste Match</a:t>
            </a:r>
          </a:p>
        </p:txBody>
      </p:sp>
      <p:sp>
        <p:nvSpPr>
          <p:cNvPr id="12" name="TextBox 11"/>
          <p:cNvSpPr txBox="1"/>
          <p:nvPr/>
        </p:nvSpPr>
        <p:spPr>
          <a:xfrm>
            <a:off x="6172200" y="2724912"/>
            <a:ext cx="5669280" cy="530352"/>
          </a:xfrm>
          <a:prstGeom prst="rect">
            <a:avLst/>
          </a:prstGeom>
          <a:noFill/>
        </p:spPr>
        <p:txBody>
          <a:bodyPr wrap="square">
            <a:spAutoFit/>
          </a:bodyPr>
          <a:lstStyle/>
          <a:p>
            <a:pPr algn="l"/>
            <a:r>
              <a:rPr sz="1100" b="0" i="0">
                <a:solidFill>
                  <a:srgbClr val="2C3E50"/>
                </a:solidFill>
              </a:rPr>
              <a:t>Recipes whose taste tag (Spicy / Sweet / Mild /
Savory / Tangy) matches yours get +0.25 bonus.</a:t>
            </a:r>
          </a:p>
        </p:txBody>
      </p:sp>
      <p:sp>
        <p:nvSpPr>
          <p:cNvPr id="13" name="Rectangle 12"/>
          <p:cNvSpPr/>
          <p:nvPr/>
        </p:nvSpPr>
        <p:spPr>
          <a:xfrm>
            <a:off x="5989320" y="3474720"/>
            <a:ext cx="91440" cy="82296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3493008"/>
            <a:ext cx="5669280" cy="347472"/>
          </a:xfrm>
          <a:prstGeom prst="rect">
            <a:avLst/>
          </a:prstGeom>
          <a:noFill/>
        </p:spPr>
        <p:txBody>
          <a:bodyPr wrap="square">
            <a:spAutoFit/>
          </a:bodyPr>
          <a:lstStyle/>
          <a:p>
            <a:pPr algn="l"/>
            <a:r>
              <a:rPr sz="1300" b="1" i="0">
                <a:solidFill>
                  <a:srgbClr val="28A745"/>
                </a:solidFill>
              </a:rPr>
              <a:t>20%  Health Condition Bonus</a:t>
            </a:r>
          </a:p>
        </p:txBody>
      </p:sp>
      <p:sp>
        <p:nvSpPr>
          <p:cNvPr id="15" name="TextBox 14"/>
          <p:cNvSpPr txBox="1"/>
          <p:nvPr/>
        </p:nvSpPr>
        <p:spPr>
          <a:xfrm>
            <a:off x="6172200" y="3822192"/>
            <a:ext cx="5669280" cy="530352"/>
          </a:xfrm>
          <a:prstGeom prst="rect">
            <a:avLst/>
          </a:prstGeom>
          <a:noFill/>
        </p:spPr>
        <p:txBody>
          <a:bodyPr wrap="square">
            <a:spAutoFit/>
          </a:bodyPr>
          <a:lstStyle/>
          <a:p>
            <a:pPr algn="l"/>
            <a:r>
              <a:rPr sz="1100" b="0" i="0">
                <a:solidFill>
                  <a:srgbClr val="2C3E50"/>
                </a:solidFill>
              </a:rPr>
              <a:t>Diabetes  →  low carb + high fiber
Iron Deficiency  →  high iron foods
High Blood Pressure  →  low fat + high fiber</a:t>
            </a:r>
          </a:p>
        </p:txBody>
      </p:sp>
      <p:sp>
        <p:nvSpPr>
          <p:cNvPr id="16" name="Rectangle 15"/>
          <p:cNvSpPr/>
          <p:nvPr/>
        </p:nvSpPr>
        <p:spPr>
          <a:xfrm>
            <a:off x="5989320" y="4572000"/>
            <a:ext cx="91440" cy="822960"/>
          </a:xfrm>
          <a:prstGeom prst="rect">
            <a:avLst/>
          </a:prstGeom>
          <a:solidFill>
            <a:srgbClr val="C882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4590288"/>
            <a:ext cx="5669280" cy="347472"/>
          </a:xfrm>
          <a:prstGeom prst="rect">
            <a:avLst/>
          </a:prstGeom>
          <a:noFill/>
        </p:spPr>
        <p:txBody>
          <a:bodyPr wrap="square">
            <a:spAutoFit/>
          </a:bodyPr>
          <a:lstStyle/>
          <a:p>
            <a:pPr algn="l"/>
            <a:r>
              <a:rPr sz="1300" b="1" i="0">
                <a:solidFill>
                  <a:srgbClr val="C88214"/>
                </a:solidFill>
              </a:rPr>
              <a:t>15%  Nutrient Quality Score</a:t>
            </a:r>
          </a:p>
        </p:txBody>
      </p:sp>
      <p:sp>
        <p:nvSpPr>
          <p:cNvPr id="18" name="TextBox 17"/>
          <p:cNvSpPr txBox="1"/>
          <p:nvPr/>
        </p:nvSpPr>
        <p:spPr>
          <a:xfrm>
            <a:off x="6172200" y="4919472"/>
            <a:ext cx="5669280" cy="530352"/>
          </a:xfrm>
          <a:prstGeom prst="rect">
            <a:avLst/>
          </a:prstGeom>
          <a:noFill/>
        </p:spPr>
        <p:txBody>
          <a:bodyPr wrap="square">
            <a:spAutoFit/>
          </a:bodyPr>
          <a:lstStyle/>
          <a:p>
            <a:pPr algn="l"/>
            <a:r>
              <a:rPr sz="1100" b="0" i="0">
                <a:solidFill>
                  <a:srgbClr val="2C3E50"/>
                </a:solidFill>
              </a:rPr>
              <a:t>A recipe-level nutritional balance score.
Higher quality recipes ranked above lower ones.</a:t>
            </a:r>
          </a:p>
        </p:txBody>
      </p:sp>
      <p:sp>
        <p:nvSpPr>
          <p:cNvPr id="19" name="TextBox 18"/>
          <p:cNvSpPr txBox="1"/>
          <p:nvPr/>
        </p:nvSpPr>
        <p:spPr>
          <a:xfrm>
            <a:off x="5989320" y="6172200"/>
            <a:ext cx="5943600" cy="457200"/>
          </a:xfrm>
          <a:prstGeom prst="rect">
            <a:avLst/>
          </a:prstGeom>
          <a:noFill/>
        </p:spPr>
        <p:txBody>
          <a:bodyPr wrap="square">
            <a:spAutoFit/>
          </a:bodyPr>
          <a:lstStyle/>
          <a:p>
            <a:pPr algn="l"/>
            <a:r>
              <a:rPr sz="1200" b="0" i="1">
                <a:solidFill>
                  <a:srgbClr val="6C757D"/>
                </a:solidFill>
              </a:rPr>
              <a:t>Scores are normalized within the result set — the best and worst recipes are always clearly separated.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3000" b="1" i="0">
                <a:solidFill>
                  <a:srgbClr val="FFFFFF"/>
                </a:solidFill>
              </a:rPr>
              <a:t>Model Accuracy</a:t>
            </a:r>
          </a:p>
        </p:txBody>
      </p:sp>
      <p:sp>
        <p:nvSpPr>
          <p:cNvPr id="4" name="TextBox 3"/>
          <p:cNvSpPr txBox="1"/>
          <p:nvPr/>
        </p:nvSpPr>
        <p:spPr>
          <a:xfrm>
            <a:off x="365760" y="640080"/>
            <a:ext cx="11430000" cy="347472"/>
          </a:xfrm>
          <a:prstGeom prst="rect">
            <a:avLst/>
          </a:prstGeom>
          <a:noFill/>
        </p:spPr>
        <p:txBody>
          <a:bodyPr wrap="square">
            <a:spAutoFit/>
          </a:bodyPr>
          <a:lstStyle/>
          <a:p>
            <a:pPr algn="l"/>
            <a:r>
              <a:rPr sz="1400" b="0" i="1">
                <a:solidFill>
                  <a:srgbClr val="DCD7FF"/>
                </a:solidFill>
              </a:rPr>
              <a:t>Evaluated on 20% held-out test set (600 records) — User_Rating excluded to prevent data leakage</a:t>
            </a:r>
          </a:p>
        </p:txBody>
      </p:sp>
      <p:sp>
        <p:nvSpPr>
          <p:cNvPr id="5" name="Rectangle 4"/>
          <p:cNvSpPr/>
          <p:nvPr/>
        </p:nvSpPr>
        <p:spPr>
          <a:xfrm>
            <a:off x="0" y="1051560"/>
            <a:ext cx="12188952" cy="58064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274320" y="1234440"/>
            <a:ext cx="6858000" cy="5120640"/>
          </a:xfrm>
          <a:prstGeom prst="rect">
            <a:avLst/>
          </a:prstGeom>
        </p:spPr>
      </p:pic>
      <p:sp>
        <p:nvSpPr>
          <p:cNvPr id="7" name="TextBox 6"/>
          <p:cNvSpPr txBox="1"/>
          <p:nvPr/>
        </p:nvSpPr>
        <p:spPr>
          <a:xfrm>
            <a:off x="7406640" y="1188720"/>
            <a:ext cx="4480560" cy="384048"/>
          </a:xfrm>
          <a:prstGeom prst="rect">
            <a:avLst/>
          </a:prstGeom>
          <a:noFill/>
        </p:spPr>
        <p:txBody>
          <a:bodyPr wrap="square">
            <a:spAutoFit/>
          </a:bodyPr>
          <a:lstStyle/>
          <a:p>
            <a:pPr algn="l"/>
            <a:r>
              <a:rPr sz="1600" b="1" i="0">
                <a:solidFill>
                  <a:srgbClr val="764BA2"/>
                </a:solidFill>
              </a:rPr>
              <a:t>Key Notes</a:t>
            </a:r>
          </a:p>
        </p:txBody>
      </p:sp>
      <p:sp>
        <p:nvSpPr>
          <p:cNvPr id="8" name="TextBox 7"/>
          <p:cNvSpPr txBox="1"/>
          <p:nvPr/>
        </p:nvSpPr>
        <p:spPr>
          <a:xfrm>
            <a:off x="7406640" y="1691640"/>
            <a:ext cx="4480560" cy="320040"/>
          </a:xfrm>
          <a:prstGeom prst="rect">
            <a:avLst/>
          </a:prstGeom>
          <a:noFill/>
        </p:spPr>
        <p:txBody>
          <a:bodyPr wrap="square">
            <a:spAutoFit/>
          </a:bodyPr>
          <a:lstStyle/>
          <a:p>
            <a:pPr algn="l"/>
            <a:r>
              <a:rPr sz="1300" b="1" i="0">
                <a:solidFill>
                  <a:srgbClr val="764BA2"/>
                </a:solidFill>
              </a:rPr>
              <a:t>What we measured</a:t>
            </a:r>
          </a:p>
        </p:txBody>
      </p:sp>
      <p:sp>
        <p:nvSpPr>
          <p:cNvPr id="9" name="TextBox 8"/>
          <p:cNvSpPr txBox="1"/>
          <p:nvPr/>
        </p:nvSpPr>
        <p:spPr>
          <a:xfrm>
            <a:off x="7406640" y="1984248"/>
            <a:ext cx="4480560" cy="502920"/>
          </a:xfrm>
          <a:prstGeom prst="rect">
            <a:avLst/>
          </a:prstGeom>
          <a:noFill/>
        </p:spPr>
        <p:txBody>
          <a:bodyPr wrap="square">
            <a:spAutoFit/>
          </a:bodyPr>
          <a:lstStyle/>
          <a:p>
            <a:pPr algn="l"/>
            <a:r>
              <a:rPr sz="1200" b="0" i="0">
                <a:solidFill>
                  <a:srgbClr val="2C3E50"/>
                </a:solidFill>
              </a:rPr>
              <a:t>Binary classification: will this user
recommend this recipe? (yes/no)</a:t>
            </a:r>
          </a:p>
        </p:txBody>
      </p:sp>
      <p:sp>
        <p:nvSpPr>
          <p:cNvPr id="10" name="TextBox 9"/>
          <p:cNvSpPr txBox="1"/>
          <p:nvPr/>
        </p:nvSpPr>
        <p:spPr>
          <a:xfrm>
            <a:off x="7406640" y="2606040"/>
            <a:ext cx="4480560" cy="320040"/>
          </a:xfrm>
          <a:prstGeom prst="rect">
            <a:avLst/>
          </a:prstGeom>
          <a:noFill/>
        </p:spPr>
        <p:txBody>
          <a:bodyPr wrap="square">
            <a:spAutoFit/>
          </a:bodyPr>
          <a:lstStyle/>
          <a:p>
            <a:pPr algn="l"/>
            <a:r>
              <a:rPr sz="1300" b="1" i="0">
                <a:solidFill>
                  <a:srgbClr val="764BA2"/>
                </a:solidFill>
              </a:rPr>
              <a:t>Test setup</a:t>
            </a:r>
          </a:p>
        </p:txBody>
      </p:sp>
      <p:sp>
        <p:nvSpPr>
          <p:cNvPr id="11" name="TextBox 10"/>
          <p:cNvSpPr txBox="1"/>
          <p:nvPr/>
        </p:nvSpPr>
        <p:spPr>
          <a:xfrm>
            <a:off x="7406640" y="2898648"/>
            <a:ext cx="4480560" cy="502920"/>
          </a:xfrm>
          <a:prstGeom prst="rect">
            <a:avLst/>
          </a:prstGeom>
          <a:noFill/>
        </p:spPr>
        <p:txBody>
          <a:bodyPr wrap="square">
            <a:spAutoFit/>
          </a:bodyPr>
          <a:lstStyle/>
          <a:p>
            <a:pPr algn="l"/>
            <a:r>
              <a:rPr sz="1200" b="0" i="0">
                <a:solidFill>
                  <a:srgbClr val="2C3E50"/>
                </a:solidFill>
              </a:rPr>
              <a:t>600 records held out — never seen
during model training</a:t>
            </a:r>
          </a:p>
        </p:txBody>
      </p:sp>
      <p:sp>
        <p:nvSpPr>
          <p:cNvPr id="12" name="TextBox 11"/>
          <p:cNvSpPr txBox="1"/>
          <p:nvPr/>
        </p:nvSpPr>
        <p:spPr>
          <a:xfrm>
            <a:off x="7406640" y="3520440"/>
            <a:ext cx="4480560" cy="320040"/>
          </a:xfrm>
          <a:prstGeom prst="rect">
            <a:avLst/>
          </a:prstGeom>
          <a:noFill/>
        </p:spPr>
        <p:txBody>
          <a:bodyPr wrap="square">
            <a:spAutoFit/>
          </a:bodyPr>
          <a:lstStyle/>
          <a:p>
            <a:pPr algn="l"/>
            <a:r>
              <a:rPr sz="1300" b="1" i="0">
                <a:solidFill>
                  <a:srgbClr val="764BA2"/>
                </a:solidFill>
              </a:rPr>
              <a:t>Best single model</a:t>
            </a:r>
          </a:p>
        </p:txBody>
      </p:sp>
      <p:sp>
        <p:nvSpPr>
          <p:cNvPr id="13" name="TextBox 12"/>
          <p:cNvSpPr txBox="1"/>
          <p:nvPr/>
        </p:nvSpPr>
        <p:spPr>
          <a:xfrm>
            <a:off x="7406640" y="3813048"/>
            <a:ext cx="4480560" cy="502920"/>
          </a:xfrm>
          <a:prstGeom prst="rect">
            <a:avLst/>
          </a:prstGeom>
          <a:noFill/>
        </p:spPr>
        <p:txBody>
          <a:bodyPr wrap="square">
            <a:spAutoFit/>
          </a:bodyPr>
          <a:lstStyle/>
          <a:p>
            <a:pPr algn="l"/>
            <a:r>
              <a:rPr sz="1200" b="0" i="0">
                <a:solidFill>
                  <a:srgbClr val="2C3E50"/>
                </a:solidFill>
              </a:rPr>
              <a:t>Random Forest at 62.8%</a:t>
            </a:r>
          </a:p>
        </p:txBody>
      </p:sp>
      <p:sp>
        <p:nvSpPr>
          <p:cNvPr id="14" name="TextBox 13"/>
          <p:cNvSpPr txBox="1"/>
          <p:nvPr/>
        </p:nvSpPr>
        <p:spPr>
          <a:xfrm>
            <a:off x="7406640" y="4434840"/>
            <a:ext cx="4480560" cy="320040"/>
          </a:xfrm>
          <a:prstGeom prst="rect">
            <a:avLst/>
          </a:prstGeom>
          <a:noFill/>
        </p:spPr>
        <p:txBody>
          <a:bodyPr wrap="square">
            <a:spAutoFit/>
          </a:bodyPr>
          <a:lstStyle/>
          <a:p>
            <a:pPr algn="l"/>
            <a:r>
              <a:rPr sz="1300" b="1" i="0">
                <a:solidFill>
                  <a:srgbClr val="764BA2"/>
                </a:solidFill>
              </a:rPr>
              <a:t>Ensemble result</a:t>
            </a:r>
          </a:p>
        </p:txBody>
      </p:sp>
      <p:sp>
        <p:nvSpPr>
          <p:cNvPr id="15" name="TextBox 14"/>
          <p:cNvSpPr txBox="1"/>
          <p:nvPr/>
        </p:nvSpPr>
        <p:spPr>
          <a:xfrm>
            <a:off x="7406640" y="4727448"/>
            <a:ext cx="4480560" cy="502920"/>
          </a:xfrm>
          <a:prstGeom prst="rect">
            <a:avLst/>
          </a:prstGeom>
          <a:noFill/>
        </p:spPr>
        <p:txBody>
          <a:bodyPr wrap="square">
            <a:spAutoFit/>
          </a:bodyPr>
          <a:lstStyle/>
          <a:p>
            <a:pPr algn="l"/>
            <a:r>
              <a:rPr sz="1200" b="0" i="0">
                <a:solidFill>
                  <a:srgbClr val="2C3E50"/>
                </a:solidFill>
              </a:rPr>
              <a:t>~63% — beats all individual models
through accuracy-weighted voting</a:t>
            </a:r>
          </a:p>
        </p:txBody>
      </p:sp>
      <p:sp>
        <p:nvSpPr>
          <p:cNvPr id="16" name="TextBox 15"/>
          <p:cNvSpPr txBox="1"/>
          <p:nvPr/>
        </p:nvSpPr>
        <p:spPr>
          <a:xfrm>
            <a:off x="7406640" y="5349240"/>
            <a:ext cx="4480560" cy="320040"/>
          </a:xfrm>
          <a:prstGeom prst="rect">
            <a:avLst/>
          </a:prstGeom>
          <a:noFill/>
        </p:spPr>
        <p:txBody>
          <a:bodyPr wrap="square">
            <a:spAutoFit/>
          </a:bodyPr>
          <a:lstStyle/>
          <a:p>
            <a:pPr algn="l"/>
            <a:r>
              <a:rPr sz="1300" b="1" i="0">
                <a:solidFill>
                  <a:srgbClr val="764BA2"/>
                </a:solidFill>
              </a:rPr>
              <a:t>Data leakage prevented</a:t>
            </a:r>
          </a:p>
        </p:txBody>
      </p:sp>
      <p:sp>
        <p:nvSpPr>
          <p:cNvPr id="17" name="TextBox 16"/>
          <p:cNvSpPr txBox="1"/>
          <p:nvPr/>
        </p:nvSpPr>
        <p:spPr>
          <a:xfrm>
            <a:off x="7406640" y="5641848"/>
            <a:ext cx="4480560" cy="502920"/>
          </a:xfrm>
          <a:prstGeom prst="rect">
            <a:avLst/>
          </a:prstGeom>
          <a:noFill/>
        </p:spPr>
        <p:txBody>
          <a:bodyPr wrap="square">
            <a:spAutoFit/>
          </a:bodyPr>
          <a:lstStyle/>
          <a:p>
            <a:pPr algn="l"/>
            <a:r>
              <a:rPr sz="1200" b="0" i="0">
                <a:solidFill>
                  <a:srgbClr val="2C3E50"/>
                </a:solidFill>
              </a:rPr>
              <a:t>User_Rating excluded from features
(it directly predicts the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3000" b="1" i="0">
                <a:solidFill>
                  <a:srgbClr val="FFFFFF"/>
                </a:solidFill>
              </a:rPr>
              <a:t>Our Results vs Research Papers</a:t>
            </a:r>
          </a:p>
        </p:txBody>
      </p:sp>
      <p:sp>
        <p:nvSpPr>
          <p:cNvPr id="4" name="TextBox 3"/>
          <p:cNvSpPr txBox="1"/>
          <p:nvPr/>
        </p:nvSpPr>
        <p:spPr>
          <a:xfrm>
            <a:off x="365760" y="640080"/>
            <a:ext cx="11430000" cy="347472"/>
          </a:xfrm>
          <a:prstGeom prst="rect">
            <a:avLst/>
          </a:prstGeom>
          <a:noFill/>
        </p:spPr>
        <p:txBody>
          <a:bodyPr wrap="square">
            <a:spAutoFit/>
          </a:bodyPr>
          <a:lstStyle/>
          <a:p>
            <a:pPr algn="l"/>
            <a:r>
              <a:rPr sz="1400" b="0" i="1">
                <a:solidFill>
                  <a:srgbClr val="DCD7FF"/>
                </a:solidFill>
              </a:rPr>
              <a:t>Honest context — why a direct comparison is not valid</a:t>
            </a:r>
          </a:p>
        </p:txBody>
      </p:sp>
      <p:sp>
        <p:nvSpPr>
          <p:cNvPr id="5" name="Rectangle 4"/>
          <p:cNvSpPr/>
          <p:nvPr/>
        </p:nvSpPr>
        <p:spPr>
          <a:xfrm>
            <a:off x="0" y="1051560"/>
            <a:ext cx="12188952" cy="58064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80160"/>
            <a:ext cx="2560320" cy="438912"/>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344168"/>
            <a:ext cx="2468880" cy="347472"/>
          </a:xfrm>
          <a:prstGeom prst="rect">
            <a:avLst/>
          </a:prstGeom>
          <a:noFill/>
        </p:spPr>
        <p:txBody>
          <a:bodyPr wrap="square">
            <a:spAutoFit/>
          </a:bodyPr>
          <a:lstStyle/>
          <a:p>
            <a:pPr algn="l"/>
            <a:r>
              <a:rPr sz="1300" b="1" i="0">
                <a:solidFill>
                  <a:srgbClr val="FFFFFF"/>
                </a:solidFill>
              </a:rPr>
              <a:t>Factor</a:t>
            </a:r>
          </a:p>
        </p:txBody>
      </p:sp>
      <p:sp>
        <p:nvSpPr>
          <p:cNvPr id="8" name="Rectangle 7"/>
          <p:cNvSpPr/>
          <p:nvPr/>
        </p:nvSpPr>
        <p:spPr>
          <a:xfrm>
            <a:off x="2880360" y="1280160"/>
            <a:ext cx="3657600" cy="438912"/>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1344168"/>
            <a:ext cx="3566160" cy="347472"/>
          </a:xfrm>
          <a:prstGeom prst="rect">
            <a:avLst/>
          </a:prstGeom>
          <a:noFill/>
        </p:spPr>
        <p:txBody>
          <a:bodyPr wrap="square">
            <a:spAutoFit/>
          </a:bodyPr>
          <a:lstStyle/>
          <a:p>
            <a:pPr algn="l"/>
            <a:r>
              <a:rPr sz="1300" b="1" i="0">
                <a:solidFill>
                  <a:srgbClr val="FFFFFF"/>
                </a:solidFill>
              </a:rPr>
              <a:t>Our System</a:t>
            </a:r>
          </a:p>
        </p:txBody>
      </p:sp>
      <p:sp>
        <p:nvSpPr>
          <p:cNvPr id="10" name="Rectangle 9"/>
          <p:cNvSpPr/>
          <p:nvPr/>
        </p:nvSpPr>
        <p:spPr>
          <a:xfrm>
            <a:off x="6537960" y="1280160"/>
            <a:ext cx="4663440" cy="438912"/>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344168"/>
            <a:ext cx="4572000" cy="347472"/>
          </a:xfrm>
          <a:prstGeom prst="rect">
            <a:avLst/>
          </a:prstGeom>
          <a:noFill/>
        </p:spPr>
        <p:txBody>
          <a:bodyPr wrap="square">
            <a:spAutoFit/>
          </a:bodyPr>
          <a:lstStyle/>
          <a:p>
            <a:pPr algn="l"/>
            <a:r>
              <a:rPr sz="1300" b="1" i="0">
                <a:solidFill>
                  <a:srgbClr val="FFFFFF"/>
                </a:solidFill>
              </a:rPr>
              <a:t>Research Papers</a:t>
            </a:r>
          </a:p>
        </p:txBody>
      </p:sp>
      <p:sp>
        <p:nvSpPr>
          <p:cNvPr id="12" name="Rectangle 11"/>
          <p:cNvSpPr/>
          <p:nvPr/>
        </p:nvSpPr>
        <p:spPr>
          <a:xfrm>
            <a:off x="320040" y="1719072"/>
            <a:ext cx="2560320" cy="420624"/>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773936"/>
            <a:ext cx="2468880" cy="347472"/>
          </a:xfrm>
          <a:prstGeom prst="rect">
            <a:avLst/>
          </a:prstGeom>
          <a:noFill/>
        </p:spPr>
        <p:txBody>
          <a:bodyPr wrap="square">
            <a:spAutoFit/>
          </a:bodyPr>
          <a:lstStyle/>
          <a:p>
            <a:pPr algn="l"/>
            <a:r>
              <a:rPr sz="1200" b="1" i="0">
                <a:solidFill>
                  <a:srgbClr val="2C3E50"/>
                </a:solidFill>
              </a:rPr>
              <a:t>Dataset</a:t>
            </a:r>
          </a:p>
        </p:txBody>
      </p:sp>
      <p:sp>
        <p:nvSpPr>
          <p:cNvPr id="14" name="Rectangle 13"/>
          <p:cNvSpPr/>
          <p:nvPr/>
        </p:nvSpPr>
        <p:spPr>
          <a:xfrm>
            <a:off x="2880360" y="1719072"/>
            <a:ext cx="3657600" cy="420624"/>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71800" y="1773936"/>
            <a:ext cx="3566160" cy="347472"/>
          </a:xfrm>
          <a:prstGeom prst="rect">
            <a:avLst/>
          </a:prstGeom>
          <a:noFill/>
        </p:spPr>
        <p:txBody>
          <a:bodyPr wrap="square">
            <a:spAutoFit/>
          </a:bodyPr>
          <a:lstStyle/>
          <a:p>
            <a:pPr algn="l"/>
            <a:r>
              <a:rPr sz="1200" b="0" i="0">
                <a:solidFill>
                  <a:srgbClr val="2C3E50"/>
                </a:solidFill>
              </a:rPr>
              <a:t>3,000 interactions (synthetic)</a:t>
            </a:r>
          </a:p>
        </p:txBody>
      </p:sp>
      <p:sp>
        <p:nvSpPr>
          <p:cNvPr id="16" name="Rectangle 15"/>
          <p:cNvSpPr/>
          <p:nvPr/>
        </p:nvSpPr>
        <p:spPr>
          <a:xfrm>
            <a:off x="6537960" y="1719072"/>
            <a:ext cx="4663440" cy="420624"/>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1773936"/>
            <a:ext cx="4572000" cy="347472"/>
          </a:xfrm>
          <a:prstGeom prst="rect">
            <a:avLst/>
          </a:prstGeom>
          <a:noFill/>
        </p:spPr>
        <p:txBody>
          <a:bodyPr wrap="square">
            <a:spAutoFit/>
          </a:bodyPr>
          <a:lstStyle/>
          <a:p>
            <a:pPr algn="l"/>
            <a:r>
              <a:rPr sz="1200" b="0" i="0">
                <a:solidFill>
                  <a:srgbClr val="2C3E50"/>
                </a:solidFill>
              </a:rPr>
              <a:t>1 million+ interactions (real)</a:t>
            </a:r>
          </a:p>
        </p:txBody>
      </p:sp>
      <p:sp>
        <p:nvSpPr>
          <p:cNvPr id="18" name="Rectangle 17"/>
          <p:cNvSpPr/>
          <p:nvPr/>
        </p:nvSpPr>
        <p:spPr>
          <a:xfrm>
            <a:off x="320040" y="2157984"/>
            <a:ext cx="2560320" cy="420624"/>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212848"/>
            <a:ext cx="2468880" cy="347472"/>
          </a:xfrm>
          <a:prstGeom prst="rect">
            <a:avLst/>
          </a:prstGeom>
          <a:noFill/>
        </p:spPr>
        <p:txBody>
          <a:bodyPr wrap="square">
            <a:spAutoFit/>
          </a:bodyPr>
          <a:lstStyle/>
          <a:p>
            <a:pPr algn="l"/>
            <a:r>
              <a:rPr sz="1200" b="1" i="0">
                <a:solidFill>
                  <a:srgbClr val="2C3E50"/>
                </a:solidFill>
              </a:rPr>
              <a:t>Recipes</a:t>
            </a:r>
          </a:p>
        </p:txBody>
      </p:sp>
      <p:sp>
        <p:nvSpPr>
          <p:cNvPr id="20" name="Rectangle 19"/>
          <p:cNvSpPr/>
          <p:nvPr/>
        </p:nvSpPr>
        <p:spPr>
          <a:xfrm>
            <a:off x="2880360" y="2157984"/>
            <a:ext cx="3657600" cy="420624"/>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71800" y="2212848"/>
            <a:ext cx="3566160" cy="347472"/>
          </a:xfrm>
          <a:prstGeom prst="rect">
            <a:avLst/>
          </a:prstGeom>
          <a:noFill/>
        </p:spPr>
        <p:txBody>
          <a:bodyPr wrap="square">
            <a:spAutoFit/>
          </a:bodyPr>
          <a:lstStyle/>
          <a:p>
            <a:pPr algn="l"/>
            <a:r>
              <a:rPr sz="1200" b="0" i="0">
                <a:solidFill>
                  <a:srgbClr val="2C3E50"/>
                </a:solidFill>
              </a:rPr>
              <a:t>250 unique (generated)</a:t>
            </a:r>
          </a:p>
        </p:txBody>
      </p:sp>
      <p:sp>
        <p:nvSpPr>
          <p:cNvPr id="22" name="Rectangle 21"/>
          <p:cNvSpPr/>
          <p:nvPr/>
        </p:nvSpPr>
        <p:spPr>
          <a:xfrm>
            <a:off x="6537960" y="2157984"/>
            <a:ext cx="4663440" cy="420624"/>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29400" y="2212848"/>
            <a:ext cx="4572000" cy="347472"/>
          </a:xfrm>
          <a:prstGeom prst="rect">
            <a:avLst/>
          </a:prstGeom>
          <a:noFill/>
        </p:spPr>
        <p:txBody>
          <a:bodyPr wrap="square">
            <a:spAutoFit/>
          </a:bodyPr>
          <a:lstStyle/>
          <a:p>
            <a:pPr algn="l"/>
            <a:r>
              <a:rPr sz="1200" b="0" i="0">
                <a:solidFill>
                  <a:srgbClr val="2C3E50"/>
                </a:solidFill>
              </a:rPr>
              <a:t>100,000 – 1 million (real)</a:t>
            </a:r>
          </a:p>
        </p:txBody>
      </p:sp>
      <p:sp>
        <p:nvSpPr>
          <p:cNvPr id="24" name="Rectangle 23"/>
          <p:cNvSpPr/>
          <p:nvPr/>
        </p:nvSpPr>
        <p:spPr>
          <a:xfrm>
            <a:off x="320040" y="2596896"/>
            <a:ext cx="2560320" cy="420624"/>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2651760"/>
            <a:ext cx="2468880" cy="347472"/>
          </a:xfrm>
          <a:prstGeom prst="rect">
            <a:avLst/>
          </a:prstGeom>
          <a:noFill/>
        </p:spPr>
        <p:txBody>
          <a:bodyPr wrap="square">
            <a:spAutoFit/>
          </a:bodyPr>
          <a:lstStyle/>
          <a:p>
            <a:pPr algn="l"/>
            <a:r>
              <a:rPr sz="1200" b="1" i="0">
                <a:solidFill>
                  <a:srgbClr val="2C3E50"/>
                </a:solidFill>
              </a:rPr>
              <a:t>Users</a:t>
            </a:r>
          </a:p>
        </p:txBody>
      </p:sp>
      <p:sp>
        <p:nvSpPr>
          <p:cNvPr id="26" name="Rectangle 25"/>
          <p:cNvSpPr/>
          <p:nvPr/>
        </p:nvSpPr>
        <p:spPr>
          <a:xfrm>
            <a:off x="2880360" y="2596896"/>
            <a:ext cx="3657600" cy="420624"/>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71800" y="2651760"/>
            <a:ext cx="3566160" cy="347472"/>
          </a:xfrm>
          <a:prstGeom prst="rect">
            <a:avLst/>
          </a:prstGeom>
          <a:noFill/>
        </p:spPr>
        <p:txBody>
          <a:bodyPr wrap="square">
            <a:spAutoFit/>
          </a:bodyPr>
          <a:lstStyle/>
          <a:p>
            <a:pPr algn="l"/>
            <a:r>
              <a:rPr sz="1200" b="0" i="0">
                <a:solidFill>
                  <a:srgbClr val="2C3E50"/>
                </a:solidFill>
              </a:rPr>
              <a:t>200 (generated profiles)</a:t>
            </a:r>
          </a:p>
        </p:txBody>
      </p:sp>
      <p:sp>
        <p:nvSpPr>
          <p:cNvPr id="28" name="Rectangle 27"/>
          <p:cNvSpPr/>
          <p:nvPr/>
        </p:nvSpPr>
        <p:spPr>
          <a:xfrm>
            <a:off x="6537960" y="2596896"/>
            <a:ext cx="4663440" cy="420624"/>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29400" y="2651760"/>
            <a:ext cx="4572000" cy="347472"/>
          </a:xfrm>
          <a:prstGeom prst="rect">
            <a:avLst/>
          </a:prstGeom>
          <a:noFill/>
        </p:spPr>
        <p:txBody>
          <a:bodyPr wrap="square">
            <a:spAutoFit/>
          </a:bodyPr>
          <a:lstStyle/>
          <a:p>
            <a:pPr algn="l"/>
            <a:r>
              <a:rPr sz="1200" b="0" i="0">
                <a:solidFill>
                  <a:srgbClr val="2C3E50"/>
                </a:solidFill>
              </a:rPr>
              <a:t>Millions of real users</a:t>
            </a:r>
          </a:p>
        </p:txBody>
      </p:sp>
      <p:sp>
        <p:nvSpPr>
          <p:cNvPr id="30" name="Rectangle 29"/>
          <p:cNvSpPr/>
          <p:nvPr/>
        </p:nvSpPr>
        <p:spPr>
          <a:xfrm>
            <a:off x="320040" y="3035808"/>
            <a:ext cx="2560320" cy="420624"/>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3090672"/>
            <a:ext cx="2468880" cy="347472"/>
          </a:xfrm>
          <a:prstGeom prst="rect">
            <a:avLst/>
          </a:prstGeom>
          <a:noFill/>
        </p:spPr>
        <p:txBody>
          <a:bodyPr wrap="square">
            <a:spAutoFit/>
          </a:bodyPr>
          <a:lstStyle/>
          <a:p>
            <a:pPr algn="l"/>
            <a:r>
              <a:rPr sz="1200" b="1" i="0">
                <a:solidFill>
                  <a:srgbClr val="2C3E50"/>
                </a:solidFill>
              </a:rPr>
              <a:t>Evaluation metric</a:t>
            </a:r>
          </a:p>
        </p:txBody>
      </p:sp>
      <p:sp>
        <p:nvSpPr>
          <p:cNvPr id="32" name="Rectangle 31"/>
          <p:cNvSpPr/>
          <p:nvPr/>
        </p:nvSpPr>
        <p:spPr>
          <a:xfrm>
            <a:off x="2880360" y="3035808"/>
            <a:ext cx="3657600" cy="420624"/>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71800" y="3090672"/>
            <a:ext cx="3566160" cy="347472"/>
          </a:xfrm>
          <a:prstGeom prst="rect">
            <a:avLst/>
          </a:prstGeom>
          <a:noFill/>
        </p:spPr>
        <p:txBody>
          <a:bodyPr wrap="square">
            <a:spAutoFit/>
          </a:bodyPr>
          <a:lstStyle/>
          <a:p>
            <a:pPr algn="l"/>
            <a:r>
              <a:rPr sz="1200" b="0" i="0">
                <a:solidFill>
                  <a:srgbClr val="2C3E50"/>
                </a:solidFill>
              </a:rPr>
              <a:t>Classification accuracy</a:t>
            </a:r>
          </a:p>
        </p:txBody>
      </p:sp>
      <p:sp>
        <p:nvSpPr>
          <p:cNvPr id="34" name="Rectangle 33"/>
          <p:cNvSpPr/>
          <p:nvPr/>
        </p:nvSpPr>
        <p:spPr>
          <a:xfrm>
            <a:off x="6537960" y="3035808"/>
            <a:ext cx="4663440" cy="420624"/>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3090672"/>
            <a:ext cx="4572000" cy="347472"/>
          </a:xfrm>
          <a:prstGeom prst="rect">
            <a:avLst/>
          </a:prstGeom>
          <a:noFill/>
        </p:spPr>
        <p:txBody>
          <a:bodyPr wrap="square">
            <a:spAutoFit/>
          </a:bodyPr>
          <a:lstStyle/>
          <a:p>
            <a:pPr algn="l"/>
            <a:r>
              <a:rPr sz="1200" b="0" i="0">
                <a:solidFill>
                  <a:srgbClr val="2C3E50"/>
                </a:solidFill>
              </a:rPr>
              <a:t>NDCG@10, Precision@K, MAP</a:t>
            </a:r>
          </a:p>
        </p:txBody>
      </p:sp>
      <p:sp>
        <p:nvSpPr>
          <p:cNvPr id="36" name="Rectangle 35"/>
          <p:cNvSpPr/>
          <p:nvPr/>
        </p:nvSpPr>
        <p:spPr>
          <a:xfrm>
            <a:off x="320040" y="3474720"/>
            <a:ext cx="2560320" cy="420624"/>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3529584"/>
            <a:ext cx="2468880" cy="347472"/>
          </a:xfrm>
          <a:prstGeom prst="rect">
            <a:avLst/>
          </a:prstGeom>
          <a:noFill/>
        </p:spPr>
        <p:txBody>
          <a:bodyPr wrap="square">
            <a:spAutoFit/>
          </a:bodyPr>
          <a:lstStyle/>
          <a:p>
            <a:pPr algn="l"/>
            <a:r>
              <a:rPr sz="1200" b="1" i="0">
                <a:solidFill>
                  <a:srgbClr val="2C3E50"/>
                </a:solidFill>
              </a:rPr>
              <a:t>Reported accuracy</a:t>
            </a:r>
          </a:p>
        </p:txBody>
      </p:sp>
      <p:sp>
        <p:nvSpPr>
          <p:cNvPr id="38" name="Rectangle 37"/>
          <p:cNvSpPr/>
          <p:nvPr/>
        </p:nvSpPr>
        <p:spPr>
          <a:xfrm>
            <a:off x="2880360" y="3474720"/>
            <a:ext cx="3657600" cy="420624"/>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71800" y="3529584"/>
            <a:ext cx="3566160" cy="347472"/>
          </a:xfrm>
          <a:prstGeom prst="rect">
            <a:avLst/>
          </a:prstGeom>
          <a:noFill/>
        </p:spPr>
        <p:txBody>
          <a:bodyPr wrap="square">
            <a:spAutoFit/>
          </a:bodyPr>
          <a:lstStyle/>
          <a:p>
            <a:pPr algn="l"/>
            <a:r>
              <a:rPr sz="1200" b="0" i="0">
                <a:solidFill>
                  <a:srgbClr val="BE3232"/>
                </a:solidFill>
              </a:rPr>
              <a:t>~63%</a:t>
            </a:r>
          </a:p>
        </p:txBody>
      </p:sp>
      <p:sp>
        <p:nvSpPr>
          <p:cNvPr id="40" name="Rectangle 39"/>
          <p:cNvSpPr/>
          <p:nvPr/>
        </p:nvSpPr>
        <p:spPr>
          <a:xfrm>
            <a:off x="6537960" y="3474720"/>
            <a:ext cx="4663440" cy="420624"/>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9400" y="3529584"/>
            <a:ext cx="4572000" cy="347472"/>
          </a:xfrm>
          <a:prstGeom prst="rect">
            <a:avLst/>
          </a:prstGeom>
          <a:noFill/>
        </p:spPr>
        <p:txBody>
          <a:bodyPr wrap="square">
            <a:spAutoFit/>
          </a:bodyPr>
          <a:lstStyle/>
          <a:p>
            <a:pPr algn="l"/>
            <a:r>
              <a:rPr sz="1200" b="0" i="0">
                <a:solidFill>
                  <a:srgbClr val="28A745"/>
                </a:solidFill>
              </a:rPr>
              <a:t>75 – 90%</a:t>
            </a:r>
          </a:p>
        </p:txBody>
      </p:sp>
      <p:sp>
        <p:nvSpPr>
          <p:cNvPr id="42" name="Rectangle 41"/>
          <p:cNvSpPr/>
          <p:nvPr/>
        </p:nvSpPr>
        <p:spPr>
          <a:xfrm>
            <a:off x="320040" y="3913632"/>
            <a:ext cx="2560320" cy="420624"/>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1480" y="3968496"/>
            <a:ext cx="2468880" cy="347472"/>
          </a:xfrm>
          <a:prstGeom prst="rect">
            <a:avLst/>
          </a:prstGeom>
          <a:noFill/>
        </p:spPr>
        <p:txBody>
          <a:bodyPr wrap="square">
            <a:spAutoFit/>
          </a:bodyPr>
          <a:lstStyle/>
          <a:p>
            <a:pPr algn="l"/>
            <a:r>
              <a:rPr sz="1200" b="1" i="0">
                <a:solidFill>
                  <a:srgbClr val="2C3E50"/>
                </a:solidFill>
              </a:rPr>
              <a:t>Data source</a:t>
            </a:r>
          </a:p>
        </p:txBody>
      </p:sp>
      <p:sp>
        <p:nvSpPr>
          <p:cNvPr id="44" name="Rectangle 43"/>
          <p:cNvSpPr/>
          <p:nvPr/>
        </p:nvSpPr>
        <p:spPr>
          <a:xfrm>
            <a:off x="2880360" y="3913632"/>
            <a:ext cx="3657600" cy="420624"/>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971800" y="3968496"/>
            <a:ext cx="3566160" cy="347472"/>
          </a:xfrm>
          <a:prstGeom prst="rect">
            <a:avLst/>
          </a:prstGeom>
          <a:noFill/>
        </p:spPr>
        <p:txBody>
          <a:bodyPr wrap="square">
            <a:spAutoFit/>
          </a:bodyPr>
          <a:lstStyle/>
          <a:p>
            <a:pPr algn="l"/>
            <a:r>
              <a:rPr sz="1200" b="0" i="0">
                <a:solidFill>
                  <a:srgbClr val="2C3E50"/>
                </a:solidFill>
              </a:rPr>
              <a:t>Synthetically generated</a:t>
            </a:r>
          </a:p>
        </p:txBody>
      </p:sp>
      <p:sp>
        <p:nvSpPr>
          <p:cNvPr id="46" name="Rectangle 45"/>
          <p:cNvSpPr/>
          <p:nvPr/>
        </p:nvSpPr>
        <p:spPr>
          <a:xfrm>
            <a:off x="6537960" y="3913632"/>
            <a:ext cx="4663440" cy="420624"/>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29400" y="3968496"/>
            <a:ext cx="4572000" cy="347472"/>
          </a:xfrm>
          <a:prstGeom prst="rect">
            <a:avLst/>
          </a:prstGeom>
          <a:noFill/>
        </p:spPr>
        <p:txBody>
          <a:bodyPr wrap="square">
            <a:spAutoFit/>
          </a:bodyPr>
          <a:lstStyle/>
          <a:p>
            <a:pPr algn="l"/>
            <a:r>
              <a:rPr sz="1200" b="0" i="0">
                <a:solidFill>
                  <a:srgbClr val="2C3E50"/>
                </a:solidFill>
              </a:rPr>
              <a:t>Years of real user behaviour</a:t>
            </a:r>
          </a:p>
        </p:txBody>
      </p:sp>
      <p:sp>
        <p:nvSpPr>
          <p:cNvPr id="48" name="Rectangle 47"/>
          <p:cNvSpPr/>
          <p:nvPr/>
        </p:nvSpPr>
        <p:spPr>
          <a:xfrm>
            <a:off x="320040" y="4828032"/>
            <a:ext cx="11521440" cy="54864"/>
          </a:xfrm>
          <a:prstGeom prst="rect">
            <a:avLst/>
          </a:prstGeom>
          <a:solidFill>
            <a:srgbClr val="764B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4983480"/>
            <a:ext cx="11430000" cy="365760"/>
          </a:xfrm>
          <a:prstGeom prst="rect">
            <a:avLst/>
          </a:prstGeom>
          <a:noFill/>
        </p:spPr>
        <p:txBody>
          <a:bodyPr wrap="square">
            <a:spAutoFit/>
          </a:bodyPr>
          <a:lstStyle/>
          <a:p>
            <a:pPr algn="l"/>
            <a:r>
              <a:rPr sz="1500" b="1" i="0">
                <a:solidFill>
                  <a:srgbClr val="764BA2"/>
                </a:solidFill>
              </a:rPr>
              <a:t>What to say when asked:</a:t>
            </a:r>
          </a:p>
        </p:txBody>
      </p:sp>
      <p:sp>
        <p:nvSpPr>
          <p:cNvPr id="50" name="Rectangle 49"/>
          <p:cNvSpPr/>
          <p:nvPr/>
        </p:nvSpPr>
        <p:spPr>
          <a:xfrm>
            <a:off x="320040" y="5394960"/>
            <a:ext cx="11521440" cy="1188720"/>
          </a:xfrm>
          <a:prstGeom prst="rect">
            <a:avLst/>
          </a:prstGeom>
          <a:solidFill>
            <a:srgbClr val="F0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5449824"/>
            <a:ext cx="11247120" cy="1097280"/>
          </a:xfrm>
          <a:prstGeom prst="rect">
            <a:avLst/>
          </a:prstGeom>
          <a:noFill/>
        </p:spPr>
        <p:txBody>
          <a:bodyPr wrap="square">
            <a:spAutoFit/>
          </a:bodyPr>
          <a:lstStyle/>
          <a:p>
            <a:pPr algn="l"/>
            <a:r>
              <a:rPr sz="1300" b="0" i="1">
                <a:solidFill>
                  <a:srgbClr val="2C3E50"/>
                </a:solidFill>
              </a:rPr>
              <a:t>"Our system achieves ~63% accuracy on a 3,000-record synthetic dataset using a 5-model weighted ensemble. Research papers report 75–90% on million-record real-world datasets using ranking metrics like NDCG@10 — a direct comparison is not meaningful at this scale. The architecture is production-grade; connecting to real data would close the gap significantly."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3000" b="1" i="0">
                <a:solidFill>
                  <a:srgbClr val="FFFFFF"/>
                </a:solidFill>
              </a:rPr>
              <a:t>Data Storage &amp; Security</a:t>
            </a:r>
          </a:p>
        </p:txBody>
      </p:sp>
      <p:sp>
        <p:nvSpPr>
          <p:cNvPr id="4" name="Rectangle 3"/>
          <p:cNvSpPr/>
          <p:nvPr/>
        </p:nvSpPr>
        <p:spPr>
          <a:xfrm>
            <a:off x="0" y="1051560"/>
            <a:ext cx="12188952" cy="58064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234440"/>
            <a:ext cx="5486400" cy="438912"/>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61872"/>
            <a:ext cx="5303520" cy="365760"/>
          </a:xfrm>
          <a:prstGeom prst="rect">
            <a:avLst/>
          </a:prstGeom>
          <a:noFill/>
        </p:spPr>
        <p:txBody>
          <a:bodyPr wrap="square">
            <a:spAutoFit/>
          </a:bodyPr>
          <a:lstStyle/>
          <a:p>
            <a:pPr algn="l"/>
            <a:r>
              <a:rPr sz="1400" b="1" i="0">
                <a:solidFill>
                  <a:srgbClr val="FFFFFF"/>
                </a:solidFill>
              </a:rPr>
              <a:t>CSV Files  (final_dataset.csv)</a:t>
            </a:r>
          </a:p>
        </p:txBody>
      </p:sp>
      <p:sp>
        <p:nvSpPr>
          <p:cNvPr id="7" name="Rectangle 6"/>
          <p:cNvSpPr/>
          <p:nvPr/>
        </p:nvSpPr>
        <p:spPr>
          <a:xfrm>
            <a:off x="365760" y="1783080"/>
            <a:ext cx="5486400" cy="548640"/>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74520"/>
            <a:ext cx="5303520" cy="457200"/>
          </a:xfrm>
          <a:prstGeom prst="rect">
            <a:avLst/>
          </a:prstGeom>
          <a:noFill/>
        </p:spPr>
        <p:txBody>
          <a:bodyPr wrap="square">
            <a:spAutoFit/>
          </a:bodyPr>
          <a:lstStyle/>
          <a:p>
            <a:pPr algn="l"/>
            <a:r>
              <a:rPr sz="1300" b="0" i="0">
                <a:solidFill>
                  <a:srgbClr val="2C3E50"/>
                </a:solidFill>
              </a:rPr>
              <a:t>●  250 recipes × 200 users × 3,000 interactions</a:t>
            </a:r>
          </a:p>
        </p:txBody>
      </p:sp>
      <p:sp>
        <p:nvSpPr>
          <p:cNvPr id="9" name="Rectangle 8"/>
          <p:cNvSpPr/>
          <p:nvPr/>
        </p:nvSpPr>
        <p:spPr>
          <a:xfrm>
            <a:off x="365760" y="2350008"/>
            <a:ext cx="5486400" cy="548640"/>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441448"/>
            <a:ext cx="5303520" cy="457200"/>
          </a:xfrm>
          <a:prstGeom prst="rect">
            <a:avLst/>
          </a:prstGeom>
          <a:noFill/>
        </p:spPr>
        <p:txBody>
          <a:bodyPr wrap="square">
            <a:spAutoFit/>
          </a:bodyPr>
          <a:lstStyle/>
          <a:p>
            <a:pPr algn="l"/>
            <a:r>
              <a:rPr sz="1300" b="0" i="0">
                <a:solidFill>
                  <a:srgbClr val="2C3E50"/>
                </a:solidFill>
              </a:rPr>
              <a:t>●  26 columns: profile + recipe nutrition + scores</a:t>
            </a:r>
          </a:p>
        </p:txBody>
      </p:sp>
      <p:sp>
        <p:nvSpPr>
          <p:cNvPr id="11" name="Rectangle 10"/>
          <p:cNvSpPr/>
          <p:nvPr/>
        </p:nvSpPr>
        <p:spPr>
          <a:xfrm>
            <a:off x="365760" y="2916936"/>
            <a:ext cx="5486400" cy="548640"/>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08376"/>
            <a:ext cx="5303520" cy="457200"/>
          </a:xfrm>
          <a:prstGeom prst="rect">
            <a:avLst/>
          </a:prstGeom>
          <a:noFill/>
        </p:spPr>
        <p:txBody>
          <a:bodyPr wrap="square">
            <a:spAutoFit/>
          </a:bodyPr>
          <a:lstStyle/>
          <a:p>
            <a:pPr algn="l"/>
            <a:r>
              <a:rPr sz="1300" b="0" i="0">
                <a:solidFill>
                  <a:srgbClr val="2C3E50"/>
                </a:solidFill>
              </a:rPr>
              <a:t>●  Generated by h1.py — re-runnable anytime</a:t>
            </a:r>
          </a:p>
        </p:txBody>
      </p:sp>
      <p:sp>
        <p:nvSpPr>
          <p:cNvPr id="13" name="Rectangle 12"/>
          <p:cNvSpPr/>
          <p:nvPr/>
        </p:nvSpPr>
        <p:spPr>
          <a:xfrm>
            <a:off x="365760" y="3483864"/>
            <a:ext cx="5486400" cy="548640"/>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575304"/>
            <a:ext cx="5303520" cy="457200"/>
          </a:xfrm>
          <a:prstGeom prst="rect">
            <a:avLst/>
          </a:prstGeom>
          <a:noFill/>
        </p:spPr>
        <p:txBody>
          <a:bodyPr wrap="square">
            <a:spAutoFit/>
          </a:bodyPr>
          <a:lstStyle/>
          <a:p>
            <a:pPr algn="l"/>
            <a:r>
              <a:rPr sz="1300" b="0" i="0">
                <a:solidFill>
                  <a:srgbClr val="2C3E50"/>
                </a:solidFill>
              </a:rPr>
              <a:t>●  What the 5 ML models train on at startup</a:t>
            </a:r>
          </a:p>
        </p:txBody>
      </p:sp>
      <p:sp>
        <p:nvSpPr>
          <p:cNvPr id="15" name="Rectangle 14"/>
          <p:cNvSpPr/>
          <p:nvPr/>
        </p:nvSpPr>
        <p:spPr>
          <a:xfrm>
            <a:off x="6400800" y="1234440"/>
            <a:ext cx="5486400" cy="438912"/>
          </a:xfrm>
          <a:prstGeom prst="rect">
            <a:avLst/>
          </a:prstGeom>
          <a:solidFill>
            <a:srgbClr val="764B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261872"/>
            <a:ext cx="5303520" cy="365760"/>
          </a:xfrm>
          <a:prstGeom prst="rect">
            <a:avLst/>
          </a:prstGeom>
          <a:noFill/>
        </p:spPr>
        <p:txBody>
          <a:bodyPr wrap="square">
            <a:spAutoFit/>
          </a:bodyPr>
          <a:lstStyle/>
          <a:p>
            <a:pPr algn="l"/>
            <a:r>
              <a:rPr sz="1400" b="1" i="0">
                <a:solidFill>
                  <a:srgbClr val="FFFFFF"/>
                </a:solidFill>
              </a:rPr>
              <a:t>SQLite Database  (food_genius.db)</a:t>
            </a:r>
          </a:p>
        </p:txBody>
      </p:sp>
      <p:sp>
        <p:nvSpPr>
          <p:cNvPr id="17" name="Rectangle 16"/>
          <p:cNvSpPr/>
          <p:nvPr/>
        </p:nvSpPr>
        <p:spPr>
          <a:xfrm>
            <a:off x="6400800" y="1783080"/>
            <a:ext cx="5486400" cy="548640"/>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1874520"/>
            <a:ext cx="5303520" cy="457200"/>
          </a:xfrm>
          <a:prstGeom prst="rect">
            <a:avLst/>
          </a:prstGeom>
          <a:noFill/>
        </p:spPr>
        <p:txBody>
          <a:bodyPr wrap="square">
            <a:spAutoFit/>
          </a:bodyPr>
          <a:lstStyle/>
          <a:p>
            <a:pPr algn="l"/>
            <a:r>
              <a:rPr sz="1300" b="0" i="0">
                <a:solidFill>
                  <a:srgbClr val="2C3E50"/>
                </a:solidFill>
              </a:rPr>
              <a:t>●  users — username, SHA-256 hashed password, full profile</a:t>
            </a:r>
          </a:p>
        </p:txBody>
      </p:sp>
      <p:sp>
        <p:nvSpPr>
          <p:cNvPr id="19" name="Rectangle 18"/>
          <p:cNvSpPr/>
          <p:nvPr/>
        </p:nvSpPr>
        <p:spPr>
          <a:xfrm>
            <a:off x="6400800" y="2350008"/>
            <a:ext cx="5486400" cy="548640"/>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441448"/>
            <a:ext cx="5303520" cy="457200"/>
          </a:xfrm>
          <a:prstGeom prst="rect">
            <a:avLst/>
          </a:prstGeom>
          <a:noFill/>
        </p:spPr>
        <p:txBody>
          <a:bodyPr wrap="square">
            <a:spAutoFit/>
          </a:bodyPr>
          <a:lstStyle/>
          <a:p>
            <a:pPr algn="l"/>
            <a:r>
              <a:rPr sz="1300" b="0" i="0">
                <a:solidFill>
                  <a:srgbClr val="2C3E50"/>
                </a:solidFill>
              </a:rPr>
              <a:t>●  favourites — saved recipe names per user + timestamp</a:t>
            </a:r>
          </a:p>
        </p:txBody>
      </p:sp>
      <p:sp>
        <p:nvSpPr>
          <p:cNvPr id="21" name="Rectangle 20"/>
          <p:cNvSpPr/>
          <p:nvPr/>
        </p:nvSpPr>
        <p:spPr>
          <a:xfrm>
            <a:off x="6400800" y="2916936"/>
            <a:ext cx="5486400" cy="548640"/>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3008376"/>
            <a:ext cx="5303520" cy="457200"/>
          </a:xfrm>
          <a:prstGeom prst="rect">
            <a:avLst/>
          </a:prstGeom>
          <a:noFill/>
        </p:spPr>
        <p:txBody>
          <a:bodyPr wrap="square">
            <a:spAutoFit/>
          </a:bodyPr>
          <a:lstStyle/>
          <a:p>
            <a:pPr algn="l"/>
            <a:r>
              <a:rPr sz="1300" b="0" i="0">
                <a:solidFill>
                  <a:srgbClr val="2C3E50"/>
                </a:solidFill>
              </a:rPr>
              <a:t>●  ratings — 1–5 star rating per user-recipe pair + timestamp</a:t>
            </a:r>
          </a:p>
        </p:txBody>
      </p:sp>
      <p:sp>
        <p:nvSpPr>
          <p:cNvPr id="23" name="Rectangle 22"/>
          <p:cNvSpPr/>
          <p:nvPr/>
        </p:nvSpPr>
        <p:spPr>
          <a:xfrm>
            <a:off x="6400800" y="3483864"/>
            <a:ext cx="5486400" cy="548640"/>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3575304"/>
            <a:ext cx="5303520" cy="457200"/>
          </a:xfrm>
          <a:prstGeom prst="rect">
            <a:avLst/>
          </a:prstGeom>
          <a:noFill/>
        </p:spPr>
        <p:txBody>
          <a:bodyPr wrap="square">
            <a:spAutoFit/>
          </a:bodyPr>
          <a:lstStyle/>
          <a:p>
            <a:pPr algn="l"/>
            <a:r>
              <a:rPr sz="1300" b="0" i="0">
                <a:solidFill>
                  <a:srgbClr val="2C3E50"/>
                </a:solidFill>
              </a:rPr>
              <a:t>●  Passwords NEVER stored in plain text</a:t>
            </a:r>
          </a:p>
        </p:txBody>
      </p:sp>
      <p:sp>
        <p:nvSpPr>
          <p:cNvPr id="25" name="TextBox 24"/>
          <p:cNvSpPr txBox="1"/>
          <p:nvPr/>
        </p:nvSpPr>
        <p:spPr>
          <a:xfrm>
            <a:off x="365760" y="4892040"/>
            <a:ext cx="11430000" cy="365760"/>
          </a:xfrm>
          <a:prstGeom prst="rect">
            <a:avLst/>
          </a:prstGeom>
          <a:noFill/>
        </p:spPr>
        <p:txBody>
          <a:bodyPr wrap="square">
            <a:spAutoFit/>
          </a:bodyPr>
          <a:lstStyle/>
          <a:p>
            <a:pPr algn="l"/>
            <a:r>
              <a:rPr sz="1500" b="1" i="0">
                <a:solidFill>
                  <a:srgbClr val="764BA2"/>
                </a:solidFill>
              </a:rPr>
              <a:t>How the system learns from ratings:</a:t>
            </a:r>
          </a:p>
        </p:txBody>
      </p:sp>
      <p:sp>
        <p:nvSpPr>
          <p:cNvPr id="26" name="TextBox 25"/>
          <p:cNvSpPr txBox="1"/>
          <p:nvPr/>
        </p:nvSpPr>
        <p:spPr>
          <a:xfrm>
            <a:off x="365760" y="5321808"/>
            <a:ext cx="11430000" cy="1234440"/>
          </a:xfrm>
          <a:prstGeom prst="rect">
            <a:avLst/>
          </a:prstGeom>
          <a:noFill/>
        </p:spPr>
        <p:txBody>
          <a:bodyPr wrap="square">
            <a:spAutoFit/>
          </a:bodyPr>
          <a:lstStyle/>
          <a:p>
            <a:pPr algn="l"/>
            <a:r>
              <a:rPr sz="1300" b="0" i="0">
                <a:solidFill>
                  <a:srgbClr val="2C3E50"/>
                </a:solidFill>
              </a:rPr>
              <a:t>Every time a logged-in user rates a recipe (1–5 stars), that rating is saved to the database. These ratings feed directly into the collaborative filtering engine — the more you rate, the better the "users like you" recommendations become.
The ML models train once at startup and are cached. They benefit from new ratings on the next session restart — the same way production systems retrain on a daily/weekly schedule.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5156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94360"/>
          </a:xfrm>
          <a:prstGeom prst="rect">
            <a:avLst/>
          </a:prstGeom>
          <a:noFill/>
        </p:spPr>
        <p:txBody>
          <a:bodyPr wrap="square">
            <a:spAutoFit/>
          </a:bodyPr>
          <a:lstStyle/>
          <a:p>
            <a:pPr algn="l"/>
            <a:r>
              <a:rPr sz="3000" b="1" i="0">
                <a:solidFill>
                  <a:srgbClr val="FFFFFF"/>
                </a:solidFill>
              </a:rPr>
              <a:t>Technology Stack &amp; Summary</a:t>
            </a:r>
          </a:p>
        </p:txBody>
      </p:sp>
      <p:sp>
        <p:nvSpPr>
          <p:cNvPr id="4" name="Rectangle 3"/>
          <p:cNvSpPr/>
          <p:nvPr/>
        </p:nvSpPr>
        <p:spPr>
          <a:xfrm>
            <a:off x="0" y="1051560"/>
            <a:ext cx="12188952" cy="580644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0"/>
            <a:ext cx="5486400" cy="384048"/>
          </a:xfrm>
          <a:prstGeom prst="rect">
            <a:avLst/>
          </a:prstGeom>
          <a:noFill/>
        </p:spPr>
        <p:txBody>
          <a:bodyPr wrap="square">
            <a:spAutoFit/>
          </a:bodyPr>
          <a:lstStyle/>
          <a:p>
            <a:pPr algn="l"/>
            <a:r>
              <a:rPr sz="1700" b="1" i="0">
                <a:solidFill>
                  <a:srgbClr val="764BA2"/>
                </a:solidFill>
              </a:rPr>
              <a:t>Technology Stack</a:t>
            </a:r>
          </a:p>
        </p:txBody>
      </p:sp>
      <p:sp>
        <p:nvSpPr>
          <p:cNvPr id="6" name="Rectangle 5"/>
          <p:cNvSpPr/>
          <p:nvPr/>
        </p:nvSpPr>
        <p:spPr>
          <a:xfrm>
            <a:off x="365760" y="1645920"/>
            <a:ext cx="5486400" cy="402336"/>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700784"/>
            <a:ext cx="1828800" cy="320040"/>
          </a:xfrm>
          <a:prstGeom prst="rect">
            <a:avLst/>
          </a:prstGeom>
          <a:noFill/>
        </p:spPr>
        <p:txBody>
          <a:bodyPr wrap="square">
            <a:spAutoFit/>
          </a:bodyPr>
          <a:lstStyle/>
          <a:p>
            <a:pPr algn="l"/>
            <a:r>
              <a:rPr sz="1200" b="1" i="0">
                <a:solidFill>
                  <a:srgbClr val="764BA2"/>
                </a:solidFill>
              </a:rPr>
              <a:t>Web Framework</a:t>
            </a:r>
          </a:p>
        </p:txBody>
      </p:sp>
      <p:sp>
        <p:nvSpPr>
          <p:cNvPr id="8" name="TextBox 7"/>
          <p:cNvSpPr txBox="1"/>
          <p:nvPr/>
        </p:nvSpPr>
        <p:spPr>
          <a:xfrm>
            <a:off x="2377440" y="1700784"/>
            <a:ext cx="3337560" cy="320040"/>
          </a:xfrm>
          <a:prstGeom prst="rect">
            <a:avLst/>
          </a:prstGeom>
          <a:noFill/>
        </p:spPr>
        <p:txBody>
          <a:bodyPr wrap="square">
            <a:spAutoFit/>
          </a:bodyPr>
          <a:lstStyle/>
          <a:p>
            <a:pPr algn="l"/>
            <a:r>
              <a:rPr sz="1200" b="0" i="0">
                <a:solidFill>
                  <a:srgbClr val="2C3E50"/>
                </a:solidFill>
              </a:rPr>
              <a:t>Streamlit</a:t>
            </a:r>
          </a:p>
        </p:txBody>
      </p:sp>
      <p:sp>
        <p:nvSpPr>
          <p:cNvPr id="9" name="Rectangle 8"/>
          <p:cNvSpPr/>
          <p:nvPr/>
        </p:nvSpPr>
        <p:spPr>
          <a:xfrm>
            <a:off x="365760" y="2066544"/>
            <a:ext cx="5486400" cy="402336"/>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121408"/>
            <a:ext cx="1828800" cy="320040"/>
          </a:xfrm>
          <a:prstGeom prst="rect">
            <a:avLst/>
          </a:prstGeom>
          <a:noFill/>
        </p:spPr>
        <p:txBody>
          <a:bodyPr wrap="square">
            <a:spAutoFit/>
          </a:bodyPr>
          <a:lstStyle/>
          <a:p>
            <a:pPr algn="l"/>
            <a:r>
              <a:rPr sz="1200" b="1" i="0">
                <a:solidFill>
                  <a:srgbClr val="764BA2"/>
                </a:solidFill>
              </a:rPr>
              <a:t>Data Handling</a:t>
            </a:r>
          </a:p>
        </p:txBody>
      </p:sp>
      <p:sp>
        <p:nvSpPr>
          <p:cNvPr id="11" name="TextBox 10"/>
          <p:cNvSpPr txBox="1"/>
          <p:nvPr/>
        </p:nvSpPr>
        <p:spPr>
          <a:xfrm>
            <a:off x="2377440" y="2121408"/>
            <a:ext cx="3337560" cy="320040"/>
          </a:xfrm>
          <a:prstGeom prst="rect">
            <a:avLst/>
          </a:prstGeom>
          <a:noFill/>
        </p:spPr>
        <p:txBody>
          <a:bodyPr wrap="square">
            <a:spAutoFit/>
          </a:bodyPr>
          <a:lstStyle/>
          <a:p>
            <a:pPr algn="l"/>
            <a:r>
              <a:rPr sz="1200" b="0" i="0">
                <a:solidFill>
                  <a:srgbClr val="2C3E50"/>
                </a:solidFill>
              </a:rPr>
              <a:t>Pandas, NumPy</a:t>
            </a:r>
          </a:p>
        </p:txBody>
      </p:sp>
      <p:sp>
        <p:nvSpPr>
          <p:cNvPr id="12" name="Rectangle 11"/>
          <p:cNvSpPr/>
          <p:nvPr/>
        </p:nvSpPr>
        <p:spPr>
          <a:xfrm>
            <a:off x="365760" y="2487168"/>
            <a:ext cx="5486400" cy="402336"/>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542032"/>
            <a:ext cx="1828800" cy="320040"/>
          </a:xfrm>
          <a:prstGeom prst="rect">
            <a:avLst/>
          </a:prstGeom>
          <a:noFill/>
        </p:spPr>
        <p:txBody>
          <a:bodyPr wrap="square">
            <a:spAutoFit/>
          </a:bodyPr>
          <a:lstStyle/>
          <a:p>
            <a:pPr algn="l"/>
            <a:r>
              <a:rPr sz="1200" b="1" i="0">
                <a:solidFill>
                  <a:srgbClr val="764BA2"/>
                </a:solidFill>
              </a:rPr>
              <a:t>Machine Learning</a:t>
            </a:r>
          </a:p>
        </p:txBody>
      </p:sp>
      <p:sp>
        <p:nvSpPr>
          <p:cNvPr id="14" name="TextBox 13"/>
          <p:cNvSpPr txBox="1"/>
          <p:nvPr/>
        </p:nvSpPr>
        <p:spPr>
          <a:xfrm>
            <a:off x="2377440" y="2542032"/>
            <a:ext cx="3337560" cy="320040"/>
          </a:xfrm>
          <a:prstGeom prst="rect">
            <a:avLst/>
          </a:prstGeom>
          <a:noFill/>
        </p:spPr>
        <p:txBody>
          <a:bodyPr wrap="square">
            <a:spAutoFit/>
          </a:bodyPr>
          <a:lstStyle/>
          <a:p>
            <a:pPr algn="l"/>
            <a:r>
              <a:rPr sz="1200" b="0" i="0">
                <a:solidFill>
                  <a:srgbClr val="2C3E50"/>
                </a:solidFill>
              </a:rPr>
              <a:t>scikit-learn · XGBoost · LightGBM · CatBoost</a:t>
            </a:r>
          </a:p>
        </p:txBody>
      </p:sp>
      <p:sp>
        <p:nvSpPr>
          <p:cNvPr id="15" name="Rectangle 14"/>
          <p:cNvSpPr/>
          <p:nvPr/>
        </p:nvSpPr>
        <p:spPr>
          <a:xfrm>
            <a:off x="365760" y="2907792"/>
            <a:ext cx="5486400" cy="402336"/>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962656"/>
            <a:ext cx="1828800" cy="320040"/>
          </a:xfrm>
          <a:prstGeom prst="rect">
            <a:avLst/>
          </a:prstGeom>
          <a:noFill/>
        </p:spPr>
        <p:txBody>
          <a:bodyPr wrap="square">
            <a:spAutoFit/>
          </a:bodyPr>
          <a:lstStyle/>
          <a:p>
            <a:pPr algn="l"/>
            <a:r>
              <a:rPr sz="1200" b="1" i="0">
                <a:solidFill>
                  <a:srgbClr val="764BA2"/>
                </a:solidFill>
              </a:rPr>
              <a:t>Similarity Search</a:t>
            </a:r>
          </a:p>
        </p:txBody>
      </p:sp>
      <p:sp>
        <p:nvSpPr>
          <p:cNvPr id="17" name="TextBox 16"/>
          <p:cNvSpPr txBox="1"/>
          <p:nvPr/>
        </p:nvSpPr>
        <p:spPr>
          <a:xfrm>
            <a:off x="2377440" y="2962656"/>
            <a:ext cx="3337560" cy="320040"/>
          </a:xfrm>
          <a:prstGeom prst="rect">
            <a:avLst/>
          </a:prstGeom>
          <a:noFill/>
        </p:spPr>
        <p:txBody>
          <a:bodyPr wrap="square">
            <a:spAutoFit/>
          </a:bodyPr>
          <a:lstStyle/>
          <a:p>
            <a:pPr algn="l"/>
            <a:r>
              <a:rPr sz="1200" b="0" i="0">
                <a:solidFill>
                  <a:srgbClr val="2C3E50"/>
                </a:solidFill>
              </a:rPr>
              <a:t>scikit-learn — cosine similarity</a:t>
            </a:r>
          </a:p>
        </p:txBody>
      </p:sp>
      <p:sp>
        <p:nvSpPr>
          <p:cNvPr id="18" name="Rectangle 17"/>
          <p:cNvSpPr/>
          <p:nvPr/>
        </p:nvSpPr>
        <p:spPr>
          <a:xfrm>
            <a:off x="365760" y="3328416"/>
            <a:ext cx="5486400" cy="402336"/>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383280"/>
            <a:ext cx="1828800" cy="320040"/>
          </a:xfrm>
          <a:prstGeom prst="rect">
            <a:avLst/>
          </a:prstGeom>
          <a:noFill/>
        </p:spPr>
        <p:txBody>
          <a:bodyPr wrap="square">
            <a:spAutoFit/>
          </a:bodyPr>
          <a:lstStyle/>
          <a:p>
            <a:pPr algn="l"/>
            <a:r>
              <a:rPr sz="1200" b="1" i="0">
                <a:solidFill>
                  <a:srgbClr val="764BA2"/>
                </a:solidFill>
              </a:rPr>
              <a:t>Visualisation</a:t>
            </a:r>
          </a:p>
        </p:txBody>
      </p:sp>
      <p:sp>
        <p:nvSpPr>
          <p:cNvPr id="20" name="TextBox 19"/>
          <p:cNvSpPr txBox="1"/>
          <p:nvPr/>
        </p:nvSpPr>
        <p:spPr>
          <a:xfrm>
            <a:off x="2377440" y="3383280"/>
            <a:ext cx="3337560" cy="320040"/>
          </a:xfrm>
          <a:prstGeom prst="rect">
            <a:avLst/>
          </a:prstGeom>
          <a:noFill/>
        </p:spPr>
        <p:txBody>
          <a:bodyPr wrap="square">
            <a:spAutoFit/>
          </a:bodyPr>
          <a:lstStyle/>
          <a:p>
            <a:pPr algn="l"/>
            <a:r>
              <a:rPr sz="1200" b="0" i="0">
                <a:solidFill>
                  <a:srgbClr val="2C3E50"/>
                </a:solidFill>
              </a:rPr>
              <a:t>Plotly</a:t>
            </a:r>
          </a:p>
        </p:txBody>
      </p:sp>
      <p:sp>
        <p:nvSpPr>
          <p:cNvPr id="21" name="Rectangle 20"/>
          <p:cNvSpPr/>
          <p:nvPr/>
        </p:nvSpPr>
        <p:spPr>
          <a:xfrm>
            <a:off x="365760" y="3749040"/>
            <a:ext cx="5486400" cy="402336"/>
          </a:xfrm>
          <a:prstGeom prst="rect">
            <a:avLst/>
          </a:prstGeom>
          <a:solidFill>
            <a:srgbClr val="EEEBFC"/>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803904"/>
            <a:ext cx="1828800" cy="320040"/>
          </a:xfrm>
          <a:prstGeom prst="rect">
            <a:avLst/>
          </a:prstGeom>
          <a:noFill/>
        </p:spPr>
        <p:txBody>
          <a:bodyPr wrap="square">
            <a:spAutoFit/>
          </a:bodyPr>
          <a:lstStyle/>
          <a:p>
            <a:pPr algn="l"/>
            <a:r>
              <a:rPr sz="1200" b="1" i="0">
                <a:solidFill>
                  <a:srgbClr val="764BA2"/>
                </a:solidFill>
              </a:rPr>
              <a:t>Database</a:t>
            </a:r>
          </a:p>
        </p:txBody>
      </p:sp>
      <p:sp>
        <p:nvSpPr>
          <p:cNvPr id="23" name="TextBox 22"/>
          <p:cNvSpPr txBox="1"/>
          <p:nvPr/>
        </p:nvSpPr>
        <p:spPr>
          <a:xfrm>
            <a:off x="2377440" y="3803904"/>
            <a:ext cx="3337560" cy="320040"/>
          </a:xfrm>
          <a:prstGeom prst="rect">
            <a:avLst/>
          </a:prstGeom>
          <a:noFill/>
        </p:spPr>
        <p:txBody>
          <a:bodyPr wrap="square">
            <a:spAutoFit/>
          </a:bodyPr>
          <a:lstStyle/>
          <a:p>
            <a:pPr algn="l"/>
            <a:r>
              <a:rPr sz="1200" b="0" i="0">
                <a:solidFill>
                  <a:srgbClr val="2C3E50"/>
                </a:solidFill>
              </a:rPr>
              <a:t>SQLite  (Python built-in — no install needed)</a:t>
            </a:r>
          </a:p>
        </p:txBody>
      </p:sp>
      <p:sp>
        <p:nvSpPr>
          <p:cNvPr id="24" name="Rectangle 23"/>
          <p:cNvSpPr/>
          <p:nvPr/>
        </p:nvSpPr>
        <p:spPr>
          <a:xfrm>
            <a:off x="365760" y="4169664"/>
            <a:ext cx="5486400" cy="402336"/>
          </a:xfrm>
          <a:prstGeom prst="rect">
            <a:avLst/>
          </a:prstGeom>
          <a:solidFill>
            <a:srgbClr val="FFFFFF"/>
          </a:solidFill>
          <a:ln w="6350">
            <a:solidFill>
              <a:srgbClr val="DCD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224528"/>
            <a:ext cx="1828800" cy="320040"/>
          </a:xfrm>
          <a:prstGeom prst="rect">
            <a:avLst/>
          </a:prstGeom>
          <a:noFill/>
        </p:spPr>
        <p:txBody>
          <a:bodyPr wrap="square">
            <a:spAutoFit/>
          </a:bodyPr>
          <a:lstStyle/>
          <a:p>
            <a:pPr algn="l"/>
            <a:r>
              <a:rPr sz="1200" b="1" i="0">
                <a:solidFill>
                  <a:srgbClr val="764BA2"/>
                </a:solidFill>
              </a:rPr>
              <a:t>Language</a:t>
            </a:r>
          </a:p>
        </p:txBody>
      </p:sp>
      <p:sp>
        <p:nvSpPr>
          <p:cNvPr id="26" name="TextBox 25"/>
          <p:cNvSpPr txBox="1"/>
          <p:nvPr/>
        </p:nvSpPr>
        <p:spPr>
          <a:xfrm>
            <a:off x="2377440" y="4224528"/>
            <a:ext cx="3337560" cy="320040"/>
          </a:xfrm>
          <a:prstGeom prst="rect">
            <a:avLst/>
          </a:prstGeom>
          <a:noFill/>
        </p:spPr>
        <p:txBody>
          <a:bodyPr wrap="square">
            <a:spAutoFit/>
          </a:bodyPr>
          <a:lstStyle/>
          <a:p>
            <a:pPr algn="l"/>
            <a:r>
              <a:rPr sz="1200" b="0" i="0">
                <a:solidFill>
                  <a:srgbClr val="2C3E50"/>
                </a:solidFill>
              </a:rPr>
              <a:t>Python 3</a:t>
            </a:r>
          </a:p>
        </p:txBody>
      </p:sp>
      <p:sp>
        <p:nvSpPr>
          <p:cNvPr id="27" name="TextBox 26"/>
          <p:cNvSpPr txBox="1"/>
          <p:nvPr/>
        </p:nvSpPr>
        <p:spPr>
          <a:xfrm>
            <a:off x="6492240" y="1188720"/>
            <a:ext cx="5486400" cy="384048"/>
          </a:xfrm>
          <a:prstGeom prst="rect">
            <a:avLst/>
          </a:prstGeom>
          <a:noFill/>
        </p:spPr>
        <p:txBody>
          <a:bodyPr wrap="square">
            <a:spAutoFit/>
          </a:bodyPr>
          <a:lstStyle/>
          <a:p>
            <a:pPr algn="l"/>
            <a:r>
              <a:rPr sz="1700" b="1" i="0">
                <a:solidFill>
                  <a:srgbClr val="764BA2"/>
                </a:solidFill>
              </a:rPr>
              <a:t>Summary</a:t>
            </a:r>
          </a:p>
        </p:txBody>
      </p:sp>
      <p:sp>
        <p:nvSpPr>
          <p:cNvPr id="28" name="TextBox 27"/>
          <p:cNvSpPr txBox="1"/>
          <p:nvPr/>
        </p:nvSpPr>
        <p:spPr>
          <a:xfrm>
            <a:off x="6492240" y="1645920"/>
            <a:ext cx="5394960" cy="384048"/>
          </a:xfrm>
          <a:prstGeom prst="rect">
            <a:avLst/>
          </a:prstGeom>
          <a:noFill/>
        </p:spPr>
        <p:txBody>
          <a:bodyPr wrap="square">
            <a:spAutoFit/>
          </a:bodyPr>
          <a:lstStyle/>
          <a:p>
            <a:pPr algn="l"/>
            <a:r>
              <a:rPr sz="1200" b="0" i="0">
                <a:solidFill>
                  <a:srgbClr val="2C3E50"/>
                </a:solidFill>
              </a:rPr>
              <a:t>●  5-model weighted AI ensemble (RF, XGBoost, LightGBM, CatBoost, MLP)</a:t>
            </a:r>
          </a:p>
        </p:txBody>
      </p:sp>
      <p:sp>
        <p:nvSpPr>
          <p:cNvPr id="29" name="TextBox 28"/>
          <p:cNvSpPr txBox="1"/>
          <p:nvPr/>
        </p:nvSpPr>
        <p:spPr>
          <a:xfrm>
            <a:off x="6492240" y="2103120"/>
            <a:ext cx="5394960" cy="384048"/>
          </a:xfrm>
          <a:prstGeom prst="rect">
            <a:avLst/>
          </a:prstGeom>
          <a:noFill/>
        </p:spPr>
        <p:txBody>
          <a:bodyPr wrap="square">
            <a:spAutoFit/>
          </a:bodyPr>
          <a:lstStyle/>
          <a:p>
            <a:pPr algn="l"/>
            <a:r>
              <a:rPr sz="1200" b="0" i="0">
                <a:solidFill>
                  <a:srgbClr val="2C3E50"/>
                </a:solidFill>
              </a:rPr>
              <a:t>●  4-layer recommendation pipeline: Filter → Score → Personalize → Collab</a:t>
            </a:r>
          </a:p>
        </p:txBody>
      </p:sp>
      <p:sp>
        <p:nvSpPr>
          <p:cNvPr id="30" name="TextBox 29"/>
          <p:cNvSpPr txBox="1"/>
          <p:nvPr/>
        </p:nvSpPr>
        <p:spPr>
          <a:xfrm>
            <a:off x="6492240" y="2560320"/>
            <a:ext cx="5394960" cy="384048"/>
          </a:xfrm>
          <a:prstGeom prst="rect">
            <a:avLst/>
          </a:prstGeom>
          <a:noFill/>
        </p:spPr>
        <p:txBody>
          <a:bodyPr wrap="square">
            <a:spAutoFit/>
          </a:bodyPr>
          <a:lstStyle/>
          <a:p>
            <a:pPr algn="l"/>
            <a:r>
              <a:rPr sz="1200" b="0" i="0">
                <a:solidFill>
                  <a:srgbClr val="2C3E50"/>
                </a:solidFill>
              </a:rPr>
              <a:t>●  250 real-named recipes across 6 cuisines and 5 diet types</a:t>
            </a:r>
          </a:p>
        </p:txBody>
      </p:sp>
      <p:sp>
        <p:nvSpPr>
          <p:cNvPr id="31" name="TextBox 30"/>
          <p:cNvSpPr txBox="1"/>
          <p:nvPr/>
        </p:nvSpPr>
        <p:spPr>
          <a:xfrm>
            <a:off x="6492240" y="3017520"/>
            <a:ext cx="5394960" cy="384048"/>
          </a:xfrm>
          <a:prstGeom prst="rect">
            <a:avLst/>
          </a:prstGeom>
          <a:noFill/>
        </p:spPr>
        <p:txBody>
          <a:bodyPr wrap="square">
            <a:spAutoFit/>
          </a:bodyPr>
          <a:lstStyle/>
          <a:p>
            <a:pPr algn="l"/>
            <a:r>
              <a:rPr sz="1200" b="0" i="0">
                <a:solidFill>
                  <a:srgbClr val="2C3E50"/>
                </a:solidFill>
              </a:rPr>
              <a:t>●  Health-aware scoring: Diabetes, Iron Deficiency, High BP, Vitamin D</a:t>
            </a:r>
          </a:p>
        </p:txBody>
      </p:sp>
      <p:sp>
        <p:nvSpPr>
          <p:cNvPr id="32" name="TextBox 31"/>
          <p:cNvSpPr txBox="1"/>
          <p:nvPr/>
        </p:nvSpPr>
        <p:spPr>
          <a:xfrm>
            <a:off x="6492240" y="3474720"/>
            <a:ext cx="5394960" cy="384048"/>
          </a:xfrm>
          <a:prstGeom prst="rect">
            <a:avLst/>
          </a:prstGeom>
          <a:noFill/>
        </p:spPr>
        <p:txBody>
          <a:bodyPr wrap="square">
            <a:spAutoFit/>
          </a:bodyPr>
          <a:lstStyle/>
          <a:p>
            <a:pPr algn="l"/>
            <a:r>
              <a:rPr sz="1200" b="0" i="0">
                <a:solidFill>
                  <a:srgbClr val="2C3E50"/>
                </a:solidFill>
              </a:rPr>
              <a:t>●  Collaborative filtering — Netflix-style "users like you" recommendations</a:t>
            </a:r>
          </a:p>
        </p:txBody>
      </p:sp>
      <p:sp>
        <p:nvSpPr>
          <p:cNvPr id="33" name="TextBox 32"/>
          <p:cNvSpPr txBox="1"/>
          <p:nvPr/>
        </p:nvSpPr>
        <p:spPr>
          <a:xfrm>
            <a:off x="6492240" y="3931920"/>
            <a:ext cx="5394960" cy="384048"/>
          </a:xfrm>
          <a:prstGeom prst="rect">
            <a:avLst/>
          </a:prstGeom>
          <a:noFill/>
        </p:spPr>
        <p:txBody>
          <a:bodyPr wrap="square">
            <a:spAutoFit/>
          </a:bodyPr>
          <a:lstStyle/>
          <a:p>
            <a:pPr algn="l"/>
            <a:r>
              <a:rPr sz="1200" b="0" i="0">
                <a:solidFill>
                  <a:srgbClr val="2C3E50"/>
                </a:solidFill>
              </a:rPr>
              <a:t>●  Persistent login, favourites, and ratings via SQLite</a:t>
            </a:r>
          </a:p>
        </p:txBody>
      </p:sp>
      <p:sp>
        <p:nvSpPr>
          <p:cNvPr id="34" name="TextBox 33"/>
          <p:cNvSpPr txBox="1"/>
          <p:nvPr/>
        </p:nvSpPr>
        <p:spPr>
          <a:xfrm>
            <a:off x="6492240" y="4389120"/>
            <a:ext cx="5394960" cy="384048"/>
          </a:xfrm>
          <a:prstGeom prst="rect">
            <a:avLst/>
          </a:prstGeom>
          <a:noFill/>
        </p:spPr>
        <p:txBody>
          <a:bodyPr wrap="square">
            <a:spAutoFit/>
          </a:bodyPr>
          <a:lstStyle/>
          <a:p>
            <a:pPr algn="l"/>
            <a:r>
              <a:rPr sz="1200" b="0" i="0">
                <a:solidFill>
                  <a:srgbClr val="2C3E50"/>
                </a:solidFill>
              </a:rPr>
              <a:t>●  Passwords hashed with SHA-256 — never stored in plain text</a:t>
            </a:r>
          </a:p>
        </p:txBody>
      </p:sp>
      <p:sp>
        <p:nvSpPr>
          <p:cNvPr id="35" name="TextBox 34"/>
          <p:cNvSpPr txBox="1"/>
          <p:nvPr/>
        </p:nvSpPr>
        <p:spPr>
          <a:xfrm>
            <a:off x="6492240" y="4846320"/>
            <a:ext cx="5394960" cy="384048"/>
          </a:xfrm>
          <a:prstGeom prst="rect">
            <a:avLst/>
          </a:prstGeom>
          <a:noFill/>
        </p:spPr>
        <p:txBody>
          <a:bodyPr wrap="square">
            <a:spAutoFit/>
          </a:bodyPr>
          <a:lstStyle/>
          <a:p>
            <a:pPr algn="l"/>
            <a:r>
              <a:rPr sz="1200" b="0" i="0">
                <a:solidFill>
                  <a:srgbClr val="2C3E50"/>
                </a:solidFill>
              </a:rPr>
              <a:t>●  ~63% accuracy on held-out synthetic test set (600 records)</a:t>
            </a:r>
          </a:p>
        </p:txBody>
      </p:sp>
      <p:sp>
        <p:nvSpPr>
          <p:cNvPr id="36" name="TextBox 35"/>
          <p:cNvSpPr txBox="1"/>
          <p:nvPr/>
        </p:nvSpPr>
        <p:spPr>
          <a:xfrm>
            <a:off x="6492240" y="5303520"/>
            <a:ext cx="5394960" cy="384048"/>
          </a:xfrm>
          <a:prstGeom prst="rect">
            <a:avLst/>
          </a:prstGeom>
          <a:noFill/>
        </p:spPr>
        <p:txBody>
          <a:bodyPr wrap="square">
            <a:spAutoFit/>
          </a:bodyPr>
          <a:lstStyle/>
          <a:p>
            <a:pPr algn="l"/>
            <a:r>
              <a:rPr sz="1200" b="0" i="0">
                <a:solidFill>
                  <a:srgbClr val="2C3E50"/>
                </a:solidFill>
              </a:rPr>
              <a:t>●  Architecture scales to research-level performance with real data</a:t>
            </a:r>
          </a:p>
        </p:txBody>
      </p:sp>
      <p:sp>
        <p:nvSpPr>
          <p:cNvPr id="37" name="Rectangle 36"/>
          <p:cNvSpPr/>
          <p:nvPr/>
        </p:nvSpPr>
        <p:spPr>
          <a:xfrm>
            <a:off x="0" y="6492240"/>
            <a:ext cx="12188952" cy="365760"/>
          </a:xfrm>
          <a:prstGeom prst="rect">
            <a:avLst/>
          </a:prstGeom>
          <a:solidFill>
            <a:srgbClr val="764B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510528"/>
            <a:ext cx="11247120" cy="320040"/>
          </a:xfrm>
          <a:prstGeom prst="rect">
            <a:avLst/>
          </a:prstGeom>
          <a:noFill/>
        </p:spPr>
        <p:txBody>
          <a:bodyPr wrap="square">
            <a:spAutoFit/>
          </a:bodyPr>
          <a:lstStyle/>
          <a:p>
            <a:pPr algn="ctr"/>
            <a:r>
              <a:rPr sz="1200" b="0" i="0">
                <a:solidFill>
                  <a:srgbClr val="FFFFFF"/>
                </a:solidFill>
              </a:rPr>
              <a:t>AI Food Genius  |  Python · Streamlit · 5-Model Ensemble · Collaborative Filtering · SQLite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